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7" Type="http://schemas.openxmlformats.org/officeDocument/2006/relationships/viewProps" Target="viewProps.xml" /><Relationship Id="rId26" Type="http://schemas.openxmlformats.org/officeDocument/2006/relationships/presProps" Target="presProps.xml" /><Relationship Id="rId1" Type="http://schemas.openxmlformats.org/officeDocument/2006/relationships/slideMaster" Target="slideMasters/slideMaster1.xml" /><Relationship Id="rId29" Type="http://schemas.openxmlformats.org/officeDocument/2006/relationships/tableStyles" Target="tableStyles.xml" /><Relationship Id="rId28"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5.png" /><Relationship Id="rId2" Type="http://schemas.openxmlformats.org/officeDocument/2006/relationships/image" Target="../media/image4.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3" Type="http://schemas.openxmlformats.org/officeDocument/2006/relationships/image" Target="../media/image10.png" /><Relationship Id="rId2" Type="http://schemas.openxmlformats.org/officeDocument/2006/relationships/image" Target="../media/image9.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Form 5500 Benefits Insurance Analysis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Company Clustering &amp; Benefits Insurance Scoring</a:t>
            </a:r>
            <a:br/>
            <a:br/>
            <a:r>
              <a:rPr/>
              <a:t>Data Science Team</a:t>
            </a:r>
          </a:p>
        </p:txBody>
      </p:sp>
      <p:sp>
        <p:nvSpPr>
          <p:cNvPr id="4" name="Date Placeholder 3"/>
          <p:cNvSpPr>
            <a:spLocks noGrp="1"/>
          </p:cNvSpPr>
          <p:nvPr>
            <p:ph idx="10" sz="half" type="dt"/>
          </p:nvPr>
        </p:nvSpPr>
        <p:spPr/>
        <p:txBody>
          <a:bodyPr/>
          <a:lstStyle/>
          <a:p>
            <a:pPr lvl="0" indent="0" marL="0">
              <a:buNone/>
            </a:pPr>
            <a:r>
              <a:rPr/>
              <a:t>2026-02-01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Executive Summary</a:t>
            </a:r>
          </a:p>
        </p:txBody>
      </p:sp>
      <p:sp>
        <p:nvSpPr>
          <p:cNvPr id="3" name="Content Placeholder 2"/>
          <p:cNvSpPr>
            <a:spLocks noGrp="1"/>
          </p:cNvSpPr>
          <p:nvPr>
            <p:ph idx="1"/>
          </p:nvPr>
        </p:nvSpPr>
        <p:spPr/>
        <p:txBody>
          <a:bodyPr/>
          <a:lstStyle/>
          <a:p>
            <a:pPr lvl="0" indent="0" marL="0">
              <a:buNone/>
            </a:pPr>
            <a:r>
              <a:rPr b="1"/>
              <a:t>Overview</a:t>
            </a:r>
          </a:p>
          <a:p>
            <a:pPr lvl="0"/>
            <a:r>
              <a:rPr/>
              <a:t>Analysis of ~420K companies with ERISA Form 5500 filing data (sample)</a:t>
            </a:r>
          </a:p>
          <a:p>
            <a:pPr lvl="0"/>
            <a:r>
              <a:rPr/>
              <a:t>Covers years 2020-2024 with historical data</a:t>
            </a:r>
          </a:p>
          <a:p>
            <a:pPr lvl="0"/>
            <a:r>
              <a:rPr/>
              <a:t>Data source: Department of Labor Form 5500 filings</a:t>
            </a:r>
          </a:p>
          <a:p>
            <a:pPr lvl="0" indent="0" marL="0">
              <a:buNone/>
            </a:pPr>
            <a:r>
              <a:rPr b="1"/>
              <a:t>Key Findings</a:t>
            </a:r>
          </a:p>
          <a:p>
            <a:pPr lvl="0"/>
            <a:r>
              <a:rPr/>
              <a:t>Peak filing year: 2023 with </a:t>
            </a:r>
            <a:r>
              <a:rPr b="1"/>
              <a:t>146,403 companies</a:t>
            </a:r>
            <a:r>
              <a:rPr/>
              <a:t> (raw data)</a:t>
            </a:r>
          </a:p>
          <a:p>
            <a:pPr lvl="0"/>
            <a:r>
              <a:rPr/>
              <a:t>83% of companies have fewer than 50 enrolled employees</a:t>
            </a:r>
          </a:p>
          <a:p>
            <a:pPr lvl="0"/>
            <a:r>
              <a:rPr/>
              <a:t>Top industries: Healthcare, Professional Services, Construction</a:t>
            </a:r>
          </a:p>
          <a:p>
            <a:pPr lvl="0"/>
            <a:r>
              <a:rPr/>
              <a:t>Top Brokers: USI, Gallagher, Lockton, Marsh &amp; McLennan</a:t>
            </a:r>
          </a:p>
          <a:p>
            <a:pPr lvl="0"/>
            <a:r>
              <a:rPr/>
              <a:t>Welfare plans: 73,677 | Pension plans: 421,818</a:t>
            </a:r>
          </a:p>
          <a:p>
            <a:pPr lvl="0" indent="0" marL="0">
              <a:buNone/>
            </a:pPr>
            <a:r>
              <a:rPr b="1"/>
              <a:t>Speaker Notes:</a:t>
            </a:r>
          </a:p>
          <a:p>
            <a:pPr lvl="0" indent="0" marL="0">
              <a:buNone/>
            </a:pPr>
            <a:r>
              <a:rPr/>
              <a:t>This presentation covers our exploratory data analysis of Form 5500 filings - the primary regulatory filings for employee benefit plans in the US. This data is foundational for our company clustering and benefits insurance scoring initiative. The analysis reveals a highly fragmented market dominated by small businesses, with significant consolidation among brokers and carriers.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1: How Many Companies File Each Year?</a:t>
            </a:r>
          </a:p>
        </p:txBody>
      </p:sp>
      <p:sp>
        <p:nvSpPr>
          <p:cNvPr id="4" name="Text Placeholder 3"/>
          <p:cNvSpPr>
            <a:spLocks noGrp="1"/>
          </p:cNvSpPr>
          <p:nvPr>
            <p:ph idx="2" sz="half" type="body"/>
          </p:nvPr>
        </p:nvSpPr>
        <p:spPr/>
        <p:txBody>
          <a:bodyPr/>
          <a:lstStyle/>
          <a:p>
            <a:pPr lvl="0" indent="0" marL="0">
              <a:spcBef>
                <a:spcPts val="3000"/>
              </a:spcBef>
              <a:buNone/>
            </a:pPr>
            <a:r>
              <a:rPr b="1"/>
              <a:t>Filing Trends (2020-2024)</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Year</a:t>
                      </a:r>
                    </a:p>
                  </a:txBody>
                  <a:tcPr/>
                </a:tc>
                <a:tc>
                  <a:txBody>
                    <a:bodyPr/>
                    <a:lstStyle/>
                    <a:p>
                      <a:pPr lvl="0" indent="0" marL="0">
                        <a:buNone/>
                      </a:pPr>
                      <a:r>
                        <a:rPr/>
                        <a:t>Companies Filing</a:t>
                      </a:r>
                    </a:p>
                  </a:txBody>
                  <a:tcPr/>
                </a:tc>
              </a:tr>
              <a:tr h="0">
                <a:tc>
                  <a:txBody>
                    <a:bodyPr/>
                    <a:lstStyle/>
                    <a:p>
                      <a:pPr lvl="0" indent="0" marL="0">
                        <a:buNone/>
                      </a:pPr>
                      <a:r>
                        <a:rPr/>
                        <a:t>2020</a:t>
                      </a:r>
                    </a:p>
                  </a:txBody>
                </a:tc>
                <a:tc>
                  <a:txBody>
                    <a:bodyPr/>
                    <a:lstStyle/>
                    <a:p>
                      <a:pPr lvl="0" indent="0" marL="0">
                        <a:buNone/>
                      </a:pPr>
                      <a:r>
                        <a:rPr/>
                        <a:t>156,805</a:t>
                      </a:r>
                    </a:p>
                  </a:txBody>
                </a:tc>
              </a:tr>
              <a:tr h="0">
                <a:tc>
                  <a:txBody>
                    <a:bodyPr/>
                    <a:lstStyle/>
                    <a:p>
                      <a:pPr lvl="0" indent="0" marL="0">
                        <a:buNone/>
                      </a:pPr>
                      <a:r>
                        <a:rPr/>
                        <a:t>2021</a:t>
                      </a:r>
                    </a:p>
                  </a:txBody>
                </a:tc>
                <a:tc>
                  <a:txBody>
                    <a:bodyPr/>
                    <a:lstStyle/>
                    <a:p>
                      <a:pPr lvl="0" indent="0" marL="0">
                        <a:buNone/>
                      </a:pPr>
                      <a:r>
                        <a:rPr/>
                        <a:t>155,304</a:t>
                      </a:r>
                    </a:p>
                  </a:txBody>
                </a:tc>
              </a:tr>
              <a:tr h="0">
                <a:tc>
                  <a:txBody>
                    <a:bodyPr/>
                    <a:lstStyle/>
                    <a:p>
                      <a:pPr lvl="0" indent="0" marL="0">
                        <a:buNone/>
                      </a:pPr>
                      <a:r>
                        <a:rPr/>
                        <a:t>2022</a:t>
                      </a:r>
                    </a:p>
                  </a:txBody>
                </a:tc>
                <a:tc>
                  <a:txBody>
                    <a:bodyPr/>
                    <a:lstStyle/>
                    <a:p>
                      <a:pPr lvl="0" indent="0" marL="0">
                        <a:buNone/>
                      </a:pPr>
                      <a:r>
                        <a:rPr/>
                        <a:t>155,289</a:t>
                      </a:r>
                    </a:p>
                  </a:txBody>
                </a:tc>
              </a:tr>
              <a:tr h="0">
                <a:tc>
                  <a:txBody>
                    <a:bodyPr/>
                    <a:lstStyle/>
                    <a:p>
                      <a:pPr lvl="0" indent="0" marL="0">
                        <a:buNone/>
                      </a:pPr>
                      <a:r>
                        <a:rPr/>
                        <a:t>2023</a:t>
                      </a:r>
                    </a:p>
                  </a:txBody>
                </a:tc>
                <a:tc>
                  <a:txBody>
                    <a:bodyPr/>
                    <a:lstStyle/>
                    <a:p>
                      <a:pPr lvl="0" indent="0" marL="0">
                        <a:buNone/>
                      </a:pPr>
                      <a:r>
                        <a:rPr/>
                        <a:t>146,403</a:t>
                      </a:r>
                    </a:p>
                  </a:txBody>
                </a:tc>
              </a:tr>
              <a:tr h="0">
                <a:tc>
                  <a:txBody>
                    <a:bodyPr/>
                    <a:lstStyle/>
                    <a:p>
                      <a:pPr lvl="0" indent="0" marL="0">
                        <a:buNone/>
                      </a:pPr>
                      <a:r>
                        <a:rPr/>
                        <a:t>2024</a:t>
                      </a:r>
                    </a:p>
                  </a:txBody>
                </a:tc>
                <a:tc>
                  <a:txBody>
                    <a:bodyPr/>
                    <a:lstStyle/>
                    <a:p>
                      <a:pPr lvl="0" indent="0" marL="0">
                        <a:buNone/>
                      </a:pPr>
                      <a:r>
                        <a:rPr/>
                        <a:t>126,620</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lots/companies_filing_by_year.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Companies Filing by Year</a:t>
            </a:r>
          </a:p>
        </p:txBody>
      </p:sp>
      <p:sp>
        <p:nvSpPr>
          <p:cNvPr id="3" name="Content Placeholder 2"/>
          <p:cNvSpPr>
            <a:spLocks noGrp="1"/>
          </p:cNvSpPr>
          <p:nvPr>
            <p:ph idx="1"/>
          </p:nvPr>
        </p:nvSpPr>
        <p:spPr/>
        <p:txBody>
          <a:bodyPr/>
          <a:lstStyle/>
          <a:p>
            <a:pPr lvl="0" indent="0" marL="0">
              <a:spcBef>
                <a:spcPts val="3000"/>
              </a:spcBef>
              <a:buNone/>
            </a:pPr>
            <a:r>
              <a:rPr b="1"/>
              <a:t>Key Observations</a:t>
            </a:r>
          </a:p>
          <a:p>
            <a:pPr lvl="0"/>
            <a:r>
              <a:rPr b="1"/>
              <a:t>Stable volumes</a:t>
            </a:r>
            <a:r>
              <a:rPr/>
              <a:t>: ~150K companies file annually (2020-2023)</a:t>
            </a:r>
          </a:p>
          <a:p>
            <a:pPr lvl="0"/>
            <a:r>
              <a:rPr b="1"/>
              <a:t>2024 decline</a:t>
            </a:r>
            <a:r>
              <a:rPr/>
              <a:t>: Likely due to incomplete data for latest year</a:t>
            </a:r>
          </a:p>
          <a:p>
            <a:pPr lvl="0"/>
            <a:r>
              <a:rPr b="1"/>
              <a:t>500K filings sample</a:t>
            </a:r>
            <a:r>
              <a:rPr/>
              <a:t> analyzed for detailed attributes</a:t>
            </a:r>
          </a:p>
          <a:p>
            <a:pPr lvl="0" indent="0" marL="0">
              <a:buNone/>
            </a:pPr>
            <a:r>
              <a:rPr b="1"/>
              <a:t>Speaker Notes:</a:t>
            </a:r>
          </a:p>
          <a:p>
            <a:pPr lvl="0" indent="0" marL="0">
              <a:buNone/>
            </a:pPr>
            <a:r>
              <a:rPr/>
              <a:t>This chart shows Form 5500 filings over time using raw data files for accurate company counts. The volumes have been relatively stable around 150K companies per year. The decline in 2024 likely reflects incomplete data collection rather than an actual market decrease.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2: Size Range by Enrolled Employees</a:t>
            </a:r>
          </a:p>
        </p:txBody>
      </p:sp>
      <p:sp>
        <p:nvSpPr>
          <p:cNvPr id="4" name="Text Placeholder 3"/>
          <p:cNvSpPr>
            <a:spLocks noGrp="1"/>
          </p:cNvSpPr>
          <p:nvPr>
            <p:ph idx="2" sz="half" type="body"/>
          </p:nvPr>
        </p:nvSpPr>
        <p:spPr/>
        <p:txBody>
          <a:bodyPr/>
          <a:lstStyle/>
          <a:p>
            <a:pPr lvl="0" indent="0" marL="0">
              <a:spcBef>
                <a:spcPts val="3000"/>
              </a:spcBef>
              <a:buNone/>
            </a:pPr>
            <a:r>
              <a:rPr b="1"/>
              <a:t>Distribution Statistics</a:t>
            </a:r>
          </a:p>
          <a:p>
            <a:pPr lvl="0"/>
            <a:r>
              <a:rPr b="1"/>
              <a:t>Median</a:t>
            </a:r>
            <a:r>
              <a:rPr/>
              <a:t>: 11 enrolled employees</a:t>
            </a:r>
          </a:p>
          <a:p>
            <a:pPr lvl="0"/>
            <a:r>
              <a:rPr b="1"/>
              <a:t>Mean</a:t>
            </a:r>
            <a:r>
              <a:rPr/>
              <a:t>: 183 employees</a:t>
            </a:r>
          </a:p>
          <a:p>
            <a:pPr lvl="0"/>
            <a:r>
              <a:rPr b="1"/>
              <a:t>25th percentile</a:t>
            </a:r>
            <a:r>
              <a:rPr/>
              <a:t>: 3 employees</a:t>
            </a:r>
          </a:p>
          <a:p>
            <a:pPr lvl="0"/>
            <a:r>
              <a:rPr b="1"/>
              <a:t>75th percentile</a:t>
            </a:r>
            <a:r>
              <a:rPr/>
              <a:t>: 35 employees</a:t>
            </a:r>
          </a:p>
          <a:p>
            <a:pPr lvl="0" indent="0" marL="0">
              <a:spcBef>
                <a:spcPts val="3000"/>
              </a:spcBef>
              <a:buNone/>
            </a:pPr>
            <a:r>
              <a:rPr b="1"/>
              <a:t>Size Bin Distribution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Size Range</a:t>
                      </a:r>
                    </a:p>
                  </a:txBody>
                  <a:tcPr/>
                </a:tc>
                <a:tc>
                  <a:txBody>
                    <a:bodyPr/>
                    <a:lstStyle/>
                    <a:p>
                      <a:pPr lvl="0" indent="0" marL="0">
                        <a:buNone/>
                      </a:pPr>
                      <a:r>
                        <a:rPr/>
                        <a:t>Filings</a:t>
                      </a:r>
                    </a:p>
                  </a:txBody>
                  <a:tcPr/>
                </a:tc>
                <a:tc>
                  <a:txBody>
                    <a:bodyPr/>
                    <a:lstStyle/>
                    <a:p>
                      <a:pPr lvl="0" indent="0" marL="0">
                        <a:buNone/>
                      </a:pPr>
                      <a:r>
                        <a:rPr/>
                        <a:t>Percentage</a:t>
                      </a:r>
                    </a:p>
                  </a:txBody>
                  <a:tcPr/>
                </a:tc>
              </a:tr>
              <a:tr h="0">
                <a:tc>
                  <a:txBody>
                    <a:bodyPr/>
                    <a:lstStyle/>
                    <a:p>
                      <a:pPr lvl="0" indent="0" marL="0">
                        <a:buNone/>
                      </a:pPr>
                      <a:r>
                        <a:rPr/>
                        <a:t>0 (No Participants)</a:t>
                      </a:r>
                    </a:p>
                  </a:txBody>
                </a:tc>
                <a:tc>
                  <a:txBody>
                    <a:bodyPr/>
                    <a:lstStyle/>
                    <a:p>
                      <a:pPr lvl="0" indent="0" marL="0">
                        <a:buNone/>
                      </a:pPr>
                      <a:r>
                        <a:rPr/>
                        <a:t>72,793</a:t>
                      </a:r>
                    </a:p>
                  </a:txBody>
                </a:tc>
                <a:tc>
                  <a:txBody>
                    <a:bodyPr/>
                    <a:lstStyle/>
                    <a:p>
                      <a:pPr lvl="0" indent="0" marL="0">
                        <a:buNone/>
                      </a:pPr>
                      <a:r>
                        <a:rPr/>
                        <a:t>14.6%</a:t>
                      </a:r>
                    </a:p>
                  </a:txBody>
                </a:tc>
              </a:tr>
              <a:tr h="0">
                <a:tc>
                  <a:txBody>
                    <a:bodyPr/>
                    <a:lstStyle/>
                    <a:p>
                      <a:pPr lvl="0" indent="0" marL="0">
                        <a:buNone/>
                      </a:pPr>
                      <a:r>
                        <a:rPr/>
                        <a:t>1-10 (Micro)</a:t>
                      </a:r>
                    </a:p>
                  </a:txBody>
                </a:tc>
                <a:tc>
                  <a:txBody>
                    <a:bodyPr/>
                    <a:lstStyle/>
                    <a:p>
                      <a:pPr lvl="0" indent="0" marL="0">
                        <a:buNone/>
                      </a:pPr>
                      <a:r>
                        <a:rPr/>
                        <a:t>175,647</a:t>
                      </a:r>
                    </a:p>
                  </a:txBody>
                </a:tc>
                <a:tc>
                  <a:txBody>
                    <a:bodyPr/>
                    <a:lstStyle/>
                    <a:p>
                      <a:pPr lvl="0" indent="0" marL="0">
                        <a:buNone/>
                      </a:pPr>
                      <a:r>
                        <a:rPr/>
                        <a:t>35.1%</a:t>
                      </a:r>
                    </a:p>
                  </a:txBody>
                </a:tc>
              </a:tr>
              <a:tr h="0">
                <a:tc>
                  <a:txBody>
                    <a:bodyPr/>
                    <a:lstStyle/>
                    <a:p>
                      <a:pPr lvl="0" indent="0" marL="0">
                        <a:buNone/>
                      </a:pPr>
                      <a:r>
                        <a:rPr/>
                        <a:t>11-50 (Small)</a:t>
                      </a:r>
                    </a:p>
                  </a:txBody>
                </a:tc>
                <a:tc>
                  <a:txBody>
                    <a:bodyPr/>
                    <a:lstStyle/>
                    <a:p>
                      <a:pPr lvl="0" indent="0" marL="0">
                        <a:buNone/>
                      </a:pPr>
                      <a:r>
                        <a:rPr/>
                        <a:t>155,233</a:t>
                      </a:r>
                    </a:p>
                  </a:txBody>
                </a:tc>
                <a:tc>
                  <a:txBody>
                    <a:bodyPr/>
                    <a:lstStyle/>
                    <a:p>
                      <a:pPr lvl="0" indent="0" marL="0">
                        <a:buNone/>
                      </a:pPr>
                      <a:r>
                        <a:rPr/>
                        <a:t>31.0%</a:t>
                      </a:r>
                    </a:p>
                  </a:txBody>
                </a:tc>
              </a:tr>
              <a:tr h="0">
                <a:tc>
                  <a:txBody>
                    <a:bodyPr/>
                    <a:lstStyle/>
                    <a:p>
                      <a:pPr lvl="0" indent="0" marL="0">
                        <a:buNone/>
                      </a:pPr>
                      <a:r>
                        <a:rPr/>
                        <a:t>51-100 (Small-Medium)</a:t>
                      </a:r>
                    </a:p>
                  </a:txBody>
                </a:tc>
                <a:tc>
                  <a:txBody>
                    <a:bodyPr/>
                    <a:lstStyle/>
                    <a:p>
                      <a:pPr lvl="0" indent="0" marL="0">
                        <a:buNone/>
                      </a:pPr>
                      <a:r>
                        <a:rPr/>
                        <a:t>41,515</a:t>
                      </a:r>
                    </a:p>
                  </a:txBody>
                </a:tc>
                <a:tc>
                  <a:txBody>
                    <a:bodyPr/>
                    <a:lstStyle/>
                    <a:p>
                      <a:pPr lvl="0" indent="0" marL="0">
                        <a:buNone/>
                      </a:pPr>
                      <a:r>
                        <a:rPr/>
                        <a:t>8.3%</a:t>
                      </a:r>
                    </a:p>
                  </a:txBody>
                </a:tc>
              </a:tr>
              <a:tr h="0">
                <a:tc>
                  <a:txBody>
                    <a:bodyPr/>
                    <a:lstStyle/>
                    <a:p>
                      <a:pPr lvl="0" indent="0" marL="0">
                        <a:buNone/>
                      </a:pPr>
                      <a:r>
                        <a:rPr/>
                        <a:t>101-500 (Medium)</a:t>
                      </a:r>
                    </a:p>
                  </a:txBody>
                </a:tc>
                <a:tc>
                  <a:txBody>
                    <a:bodyPr/>
                    <a:lstStyle/>
                    <a:p>
                      <a:pPr lvl="0" indent="0" marL="0">
                        <a:buNone/>
                      </a:pPr>
                      <a:r>
                        <a:rPr/>
                        <a:t>39,476</a:t>
                      </a:r>
                    </a:p>
                  </a:txBody>
                </a:tc>
                <a:tc>
                  <a:txBody>
                    <a:bodyPr/>
                    <a:lstStyle/>
                    <a:p>
                      <a:pPr lvl="0" indent="0" marL="0">
                        <a:buNone/>
                      </a:pPr>
                      <a:r>
                        <a:rPr/>
                        <a:t>7.9%</a:t>
                      </a:r>
                    </a:p>
                  </a:txBody>
                </a:tc>
              </a:tr>
              <a:tr h="0">
                <a:tc>
                  <a:txBody>
                    <a:bodyPr/>
                    <a:lstStyle/>
                    <a:p>
                      <a:pPr lvl="0" indent="0" marL="0">
                        <a:buNone/>
                      </a:pPr>
                      <a:r>
                        <a:rPr/>
                        <a:t>501-1000 (Medium-Large)</a:t>
                      </a:r>
                    </a:p>
                  </a:txBody>
                </a:tc>
                <a:tc>
                  <a:txBody>
                    <a:bodyPr/>
                    <a:lstStyle/>
                    <a:p>
                      <a:pPr lvl="0" indent="0" marL="0">
                        <a:buNone/>
                      </a:pPr>
                      <a:r>
                        <a:rPr/>
                        <a:t>6,506</a:t>
                      </a:r>
                    </a:p>
                  </a:txBody>
                </a:tc>
                <a:tc>
                  <a:txBody>
                    <a:bodyPr/>
                    <a:lstStyle/>
                    <a:p>
                      <a:pPr lvl="0" indent="0" marL="0">
                        <a:buNone/>
                      </a:pPr>
                      <a:r>
                        <a:rPr/>
                        <a:t>1.3%</a:t>
                      </a:r>
                    </a:p>
                  </a:txBody>
                </a:tc>
              </a:tr>
              <a:tr h="0">
                <a:tc>
                  <a:txBody>
                    <a:bodyPr/>
                    <a:lstStyle/>
                    <a:p>
                      <a:pPr lvl="0" indent="0" marL="0">
                        <a:buNone/>
                      </a:pPr>
                      <a:r>
                        <a:rPr/>
                        <a:t>1001-5000 (Large)</a:t>
                      </a:r>
                    </a:p>
                  </a:txBody>
                </a:tc>
                <a:tc>
                  <a:txBody>
                    <a:bodyPr/>
                    <a:lstStyle/>
                    <a:p>
                      <a:pPr lvl="0" indent="0" marL="0">
                        <a:buNone/>
                      </a:pPr>
                      <a:r>
                        <a:rPr/>
                        <a:t>6,504</a:t>
                      </a:r>
                    </a:p>
                  </a:txBody>
                </a:tc>
                <a:tc>
                  <a:txBody>
                    <a:bodyPr/>
                    <a:lstStyle/>
                    <a:p>
                      <a:pPr lvl="0" indent="0" marL="0">
                        <a:buNone/>
                      </a:pPr>
                      <a:r>
                        <a:rPr/>
                        <a:t>1.3%</a:t>
                      </a:r>
                    </a:p>
                  </a:txBody>
                </a:tc>
              </a:tr>
              <a:tr h="0">
                <a:tc>
                  <a:txBody>
                    <a:bodyPr/>
                    <a:lstStyle/>
                    <a:p>
                      <a:pPr lvl="0" indent="0" marL="0">
                        <a:buNone/>
                      </a:pPr>
                      <a:r>
                        <a:rPr/>
                        <a:t>5000+ (Enterprise)</a:t>
                      </a:r>
                    </a:p>
                  </a:txBody>
                </a:tc>
                <a:tc>
                  <a:txBody>
                    <a:bodyPr/>
                    <a:lstStyle/>
                    <a:p>
                      <a:pPr lvl="0" indent="0" marL="0">
                        <a:buNone/>
                      </a:pPr>
                      <a:r>
                        <a:rPr/>
                        <a:t>2,326</a:t>
                      </a:r>
                    </a:p>
                  </a:txBody>
                </a:tc>
                <a:tc>
                  <a:txBody>
                    <a:bodyPr/>
                    <a:lstStyle/>
                    <a:p>
                      <a:pPr lvl="0" indent="0" marL="0">
                        <a:buNone/>
                      </a:pPr>
                      <a:r>
                        <a:rPr/>
                        <a:t>0.5%</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lots/size_distribution.png" id="0" name="Picture 1"/>
          <p:cNvPicPr>
            <a:picLocks noGrp="1" noChangeAspect="1"/>
          </p:cNvPicPr>
          <p:nvPr/>
        </p:nvPicPr>
        <p:blipFill>
          <a:blip r:embed="rId2"/>
          <a:stretch>
            <a:fillRect/>
          </a:stretch>
        </p:blipFill>
        <p:spPr bwMode="auto">
          <a:xfrm>
            <a:off x="1117600" y="1193800"/>
            <a:ext cx="6921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Size Distribution</a:t>
            </a:r>
          </a:p>
        </p:txBody>
      </p:sp>
      <p:sp>
        <p:nvSpPr>
          <p:cNvPr id="3" name="Content Placeholder 2"/>
          <p:cNvSpPr>
            <a:spLocks noGrp="1"/>
          </p:cNvSpPr>
          <p:nvPr>
            <p:ph idx="1"/>
          </p:nvPr>
        </p:nvSpPr>
        <p:spPr/>
        <p:txBody>
          <a:bodyPr/>
          <a:lstStyle/>
          <a:p>
            <a:pPr lvl="0" indent="0" marL="0">
              <a:buNone/>
            </a:pPr>
            <a:r>
              <a:rPr b="1"/>
              <a:t>Speaker Notes:</a:t>
            </a:r>
          </a:p>
          <a:p>
            <a:pPr lvl="0" indent="0" marL="0">
              <a:buNone/>
            </a:pPr>
            <a:r>
              <a:rPr/>
              <a:t>This slide reveals a critically important insight: the benefits market is overwhelmingly composed of small businesses. Over half of all companies filing Form 5500 have 10 or fewer employees. This skew has major implications for our clustering and scoring models.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3: Primary Industry from NAICS Codes</a:t>
            </a:r>
          </a:p>
        </p:txBody>
      </p:sp>
      <p:sp>
        <p:nvSpPr>
          <p:cNvPr id="4" name="Text Placeholder 3"/>
          <p:cNvSpPr>
            <a:spLocks noGrp="1"/>
          </p:cNvSpPr>
          <p:nvPr>
            <p:ph idx="2" sz="half" type="body"/>
          </p:nvPr>
        </p:nvSpPr>
        <p:spPr/>
        <p:txBody>
          <a:bodyPr/>
          <a:lstStyle/>
          <a:p>
            <a:pPr lvl="0" indent="0" marL="0">
              <a:spcBef>
                <a:spcPts val="3000"/>
              </a:spcBef>
              <a:buNone/>
            </a:pPr>
            <a:r>
              <a:rPr b="1"/>
              <a:t>Top Industries by NAICS Code</a:t>
            </a:r>
          </a:p>
          <a:p>
            <a:pPr lvl="0" indent="-342900" marL="342900">
              <a:buAutoNum type="arabicPeriod"/>
            </a:pPr>
            <a:r>
              <a:rPr b="1"/>
              <a:t>621111</a:t>
            </a:r>
            <a:r>
              <a:rPr/>
              <a:t> - Offices of Physicians: 32,269 filings</a:t>
            </a:r>
          </a:p>
          <a:p>
            <a:pPr lvl="0" indent="-342900" marL="342900">
              <a:buAutoNum type="arabicPeriod"/>
            </a:pPr>
            <a:r>
              <a:rPr b="1"/>
              <a:t>621210</a:t>
            </a:r>
            <a:r>
              <a:rPr/>
              <a:t> - Offices of Dentists: 22,643 filings</a:t>
            </a:r>
          </a:p>
          <a:p>
            <a:pPr lvl="0" indent="-342900" marL="342900">
              <a:buAutoNum type="arabicPeriod"/>
            </a:pPr>
            <a:r>
              <a:rPr b="1"/>
              <a:t>541990</a:t>
            </a:r>
            <a:r>
              <a:rPr/>
              <a:t> - Other Professional Services: 21,457 filings</a:t>
            </a:r>
          </a:p>
          <a:p>
            <a:pPr lvl="0" indent="-342900" marL="342900">
              <a:buAutoNum type="arabicPeriod"/>
            </a:pPr>
            <a:r>
              <a:rPr b="1"/>
              <a:t>541110</a:t>
            </a:r>
            <a:r>
              <a:rPr/>
              <a:t> - Offices of Lawyers: 20,926 filings</a:t>
            </a:r>
          </a:p>
          <a:p>
            <a:pPr lvl="0" indent="-342900" marL="342900">
              <a:buAutoNum type="arabicPeriod"/>
            </a:pPr>
            <a:r>
              <a:rPr b="1"/>
              <a:t>611000</a:t>
            </a:r>
            <a:r>
              <a:rPr/>
              <a:t> - Elementary/Secondary Schools: 10,737 filings</a:t>
            </a:r>
          </a:p>
          <a:p>
            <a:pPr lvl="0" indent="0" marL="0">
              <a:spcBef>
                <a:spcPts val="3000"/>
              </a:spcBef>
              <a:buNone/>
            </a:pPr>
            <a:r>
              <a:rPr b="1"/>
              <a:t>Sector Distribution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Sector</a:t>
                      </a:r>
                    </a:p>
                  </a:txBody>
                  <a:tcPr/>
                </a:tc>
                <a:tc>
                  <a:txBody>
                    <a:bodyPr/>
                    <a:lstStyle/>
                    <a:p>
                      <a:pPr lvl="0" indent="0" marL="0">
                        <a:buNone/>
                      </a:pPr>
                      <a:r>
                        <a:rPr/>
                        <a:t>Filings</a:t>
                      </a:r>
                    </a:p>
                  </a:txBody>
                  <a:tcPr/>
                </a:tc>
              </a:tr>
              <a:tr h="0">
                <a:tc>
                  <a:txBody>
                    <a:bodyPr/>
                    <a:lstStyle/>
                    <a:p>
                      <a:pPr lvl="0" indent="0" marL="0">
                        <a:buNone/>
                      </a:pPr>
                      <a:r>
                        <a:rPr/>
                        <a:t>Professional, Scientific, and Technical Services</a:t>
                      </a:r>
                    </a:p>
                  </a:txBody>
                </a:tc>
                <a:tc>
                  <a:txBody>
                    <a:bodyPr/>
                    <a:lstStyle/>
                    <a:p>
                      <a:pPr lvl="0" indent="0" marL="0">
                        <a:buNone/>
                      </a:pPr>
                      <a:r>
                        <a:rPr/>
                        <a:t>98,207</a:t>
                      </a:r>
                    </a:p>
                  </a:txBody>
                </a:tc>
              </a:tr>
              <a:tr h="0">
                <a:tc>
                  <a:txBody>
                    <a:bodyPr/>
                    <a:lstStyle/>
                    <a:p>
                      <a:pPr lvl="0" indent="0" marL="0">
                        <a:buNone/>
                      </a:pPr>
                      <a:r>
                        <a:rPr/>
                        <a:t>Health Care and Social Assistance</a:t>
                      </a:r>
                    </a:p>
                  </a:txBody>
                </a:tc>
                <a:tc>
                  <a:txBody>
                    <a:bodyPr/>
                    <a:lstStyle/>
                    <a:p>
                      <a:pPr lvl="0" indent="0" marL="0">
                        <a:buNone/>
                      </a:pPr>
                      <a:r>
                        <a:rPr/>
                        <a:t>91,577</a:t>
                      </a:r>
                    </a:p>
                  </a:txBody>
                </a:tc>
              </a:tr>
              <a:tr h="0">
                <a:tc>
                  <a:txBody>
                    <a:bodyPr/>
                    <a:lstStyle/>
                    <a:p>
                      <a:pPr lvl="0" indent="0" marL="0">
                        <a:buNone/>
                      </a:pPr>
                      <a:r>
                        <a:rPr/>
                        <a:t>Construction</a:t>
                      </a:r>
                    </a:p>
                  </a:txBody>
                </a:tc>
                <a:tc>
                  <a:txBody>
                    <a:bodyPr/>
                    <a:lstStyle/>
                    <a:p>
                      <a:pPr lvl="0" indent="0" marL="0">
                        <a:buNone/>
                      </a:pPr>
                      <a:r>
                        <a:rPr/>
                        <a:t>42,586</a:t>
                      </a:r>
                    </a:p>
                  </a:txBody>
                </a:tc>
              </a:tr>
              <a:tr h="0">
                <a:tc>
                  <a:txBody>
                    <a:bodyPr/>
                    <a:lstStyle/>
                    <a:p>
                      <a:pPr lvl="0" indent="0" marL="0">
                        <a:buNone/>
                      </a:pPr>
                      <a:r>
                        <a:rPr/>
                        <a:t>Manufacturing</a:t>
                      </a:r>
                    </a:p>
                  </a:txBody>
                </a:tc>
                <a:tc>
                  <a:txBody>
                    <a:bodyPr/>
                    <a:lstStyle/>
                    <a:p>
                      <a:pPr lvl="0" indent="0" marL="0">
                        <a:buNone/>
                      </a:pPr>
                      <a:r>
                        <a:rPr/>
                        <a:t>33,196</a:t>
                      </a:r>
                    </a:p>
                  </a:txBody>
                </a:tc>
              </a:tr>
              <a:tr h="0">
                <a:tc>
                  <a:txBody>
                    <a:bodyPr/>
                    <a:lstStyle/>
                    <a:p>
                      <a:pPr lvl="0" indent="0" marL="0">
                        <a:buNone/>
                      </a:pPr>
                      <a:r>
                        <a:rPr/>
                        <a:t>Other Services</a:t>
                      </a:r>
                    </a:p>
                  </a:txBody>
                </a:tc>
                <a:tc>
                  <a:txBody>
                    <a:bodyPr/>
                    <a:lstStyle/>
                    <a:p>
                      <a:pPr lvl="0" indent="0" marL="0">
                        <a:buNone/>
                      </a:pPr>
                      <a:r>
                        <a:rPr/>
                        <a:t>31,422</a:t>
                      </a:r>
                    </a:p>
                  </a:txBody>
                </a:tc>
              </a:tr>
              <a:tr h="0">
                <a:tc>
                  <a:txBody>
                    <a:bodyPr/>
                    <a:lstStyle/>
                    <a:p>
                      <a:pPr lvl="0" indent="0" marL="0">
                        <a:buNone/>
                      </a:pPr>
                      <a:r>
                        <a:rPr/>
                        <a:t>Finance and Insurance</a:t>
                      </a:r>
                    </a:p>
                  </a:txBody>
                </a:tc>
                <a:tc>
                  <a:txBody>
                    <a:bodyPr/>
                    <a:lstStyle/>
                    <a:p>
                      <a:pPr lvl="0" indent="0" marL="0">
                        <a:buNone/>
                      </a:pPr>
                      <a:r>
                        <a:rPr/>
                        <a:t>31,151</a:t>
                      </a:r>
                    </a:p>
                  </a:txBody>
                </a:tc>
              </a:tr>
              <a:tr h="0">
                <a:tc>
                  <a:txBody>
                    <a:bodyPr/>
                    <a:lstStyle/>
                    <a:p>
                      <a:pPr lvl="0" indent="0" marL="0">
                        <a:buNone/>
                      </a:pPr>
                      <a:r>
                        <a:rPr/>
                        <a:t>Retail Trade</a:t>
                      </a:r>
                    </a:p>
                  </a:txBody>
                </a:tc>
                <a:tc>
                  <a:txBody>
                    <a:bodyPr/>
                    <a:lstStyle/>
                    <a:p>
                      <a:pPr lvl="0" indent="0" marL="0">
                        <a:buNone/>
                      </a:pPr>
                      <a:r>
                        <a:rPr/>
                        <a:t>29,822</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lots/sector_distribution.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Sector Distribution</a:t>
            </a:r>
          </a:p>
        </p:txBody>
      </p:sp>
      <p:sp>
        <p:nvSpPr>
          <p:cNvPr id="3" name="Content Placeholder 2"/>
          <p:cNvSpPr>
            <a:spLocks noGrp="1"/>
          </p:cNvSpPr>
          <p:nvPr>
            <p:ph idx="1"/>
          </p:nvPr>
        </p:nvSpPr>
        <p:spPr/>
        <p:txBody>
          <a:bodyPr/>
          <a:lstStyle/>
          <a:p>
            <a:pPr lvl="0" indent="0" marL="0">
              <a:buNone/>
            </a:pPr>
            <a:r>
              <a:rPr b="1"/>
              <a:t>Speaker Notes:</a:t>
            </a:r>
          </a:p>
          <a:p>
            <a:pPr lvl="0" indent="0" marL="0">
              <a:buNone/>
            </a:pPr>
            <a:r>
              <a:rPr/>
              <a:t>Industry analysis reveals Professional Services and Healthcare dominate Form 5500 filings. This makes sense given: 1. Professional services firms (lawyers, consultants) have high 401(k) adoption 2. Healthcare providers (physicians, dentists) often sponsor retirement plans 3. These industries have stable, W2-employed workforces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4: Benefits Program Structure</a:t>
            </a:r>
          </a:p>
        </p:txBody>
      </p:sp>
      <p:sp>
        <p:nvSpPr>
          <p:cNvPr id="4" name="Text Placeholder 3"/>
          <p:cNvSpPr>
            <a:spLocks noGrp="1"/>
          </p:cNvSpPr>
          <p:nvPr>
            <p:ph idx="2" sz="half" type="body"/>
          </p:nvPr>
        </p:nvSpPr>
        <p:spPr/>
        <p:txBody>
          <a:bodyPr/>
          <a:lstStyle/>
          <a:p>
            <a:pPr lvl="0" indent="0" marL="0">
              <a:spcBef>
                <a:spcPts val="3000"/>
              </a:spcBef>
              <a:buNone/>
            </a:pPr>
            <a:r>
              <a:rPr b="1"/>
              <a:t>Welfare vs Pension</a:t>
            </a:r>
          </a:p>
          <a:p>
            <a:pPr lvl="0"/>
            <a:r>
              <a:rPr b="1"/>
              <a:t>Welfare plans</a:t>
            </a:r>
            <a:r>
              <a:rPr/>
              <a:t>: 73,677 filings</a:t>
            </a:r>
          </a:p>
          <a:p>
            <a:pPr lvl="0"/>
            <a:r>
              <a:rPr b="1"/>
              <a:t>Pension plans</a:t>
            </a:r>
            <a:r>
              <a:rPr/>
              <a:t>: 421,818 filings</a:t>
            </a:r>
          </a:p>
          <a:p>
            <a:pPr lvl="0" indent="0" marL="0">
              <a:spcBef>
                <a:spcPts val="3000"/>
              </a:spcBef>
              <a:buNone/>
            </a:pPr>
            <a:r>
              <a:rPr b="1"/>
              <a:t>Benefits by Company Size</a:t>
            </a:r>
          </a:p>
        </p:txBody>
      </p:sp>
      <p:pic>
        <p:nvPicPr>
          <p:cNvPr descr="plots/benefits_by_size.png" id="0" name="Picture 1"/>
          <p:cNvPicPr>
            <a:picLocks noGrp="1" noChangeAspect="1"/>
          </p:cNvPicPr>
          <p:nvPr/>
        </p:nvPicPr>
        <p:blipFill>
          <a:blip r:embed="rId2"/>
          <a:stretch>
            <a:fillRect/>
          </a:stretch>
        </p:blipFill>
        <p:spPr bwMode="auto">
          <a:xfrm>
            <a:off x="3568700" y="1079500"/>
            <a:ext cx="5105400" cy="21336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Benefits by Size</a:t>
            </a:r>
          </a:p>
        </p:txBody>
      </p:sp>
      <p:sp>
        <p:nvSpPr>
          <p:cNvPr id="3" name="Content Placeholder 2"/>
          <p:cNvSpPr>
            <a:spLocks noGrp="1"/>
          </p:cNvSpPr>
          <p:nvPr>
            <p:ph idx="1"/>
          </p:nvPr>
        </p:nvSpPr>
        <p:spPr/>
        <p:txBody>
          <a:bodyPr/>
          <a:lstStyle/>
          <a:p>
            <a:pPr lvl="0" indent="0" marL="0">
              <a:spcBef>
                <a:spcPts val="3000"/>
              </a:spcBef>
              <a:buNone/>
            </a:pPr>
            <a:r>
              <a:rPr b="1"/>
              <a:t>Benefits by Sector</a:t>
            </a:r>
          </a:p>
        </p:txBody>
      </p:sp>
      <p:pic>
        <p:nvPicPr>
          <p:cNvPr descr="plots/benefits_by_sector.png" id="0" name="Picture 1"/>
          <p:cNvPicPr>
            <a:picLocks noGrp="1" noChangeAspect="1"/>
          </p:cNvPicPr>
          <p:nvPr/>
        </p:nvPicPr>
        <p:blipFill>
          <a:blip r:embed="rId3"/>
          <a:stretch>
            <a:fillRect/>
          </a:stretch>
        </p:blipFill>
        <p:spPr bwMode="auto">
          <a:xfrm>
            <a:off x="3568700" y="1041400"/>
            <a:ext cx="5105400" cy="2184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Benefits by Sector</a:t>
            </a:r>
          </a:p>
        </p:txBody>
      </p:sp>
      <p:sp>
        <p:nvSpPr>
          <p:cNvPr id="3" name="Content Placeholder 2"/>
          <p:cNvSpPr>
            <a:spLocks noGrp="1"/>
          </p:cNvSpPr>
          <p:nvPr>
            <p:ph idx="1"/>
          </p:nvPr>
        </p:nvSpPr>
        <p:spPr/>
        <p:txBody>
          <a:bodyPr/>
          <a:lstStyle/>
          <a:p>
            <a:pPr lvl="0" indent="0" marL="0">
              <a:spcBef>
                <a:spcPts val="3000"/>
              </a:spcBef>
              <a:buNone/>
            </a:pPr>
            <a:r>
              <a:rPr b="1"/>
              <a:t>Premium Per Life by Sector</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Sector</a:t>
                      </a:r>
                    </a:p>
                  </a:txBody>
                  <a:tcPr/>
                </a:tc>
                <a:tc>
                  <a:txBody>
                    <a:bodyPr/>
                    <a:lstStyle/>
                    <a:p>
                      <a:pPr lvl="0" indent="0" marL="0">
                        <a:buNone/>
                      </a:pPr>
                      <a:r>
                        <a:rPr/>
                        <a:t>Premium per Life</a:t>
                      </a:r>
                    </a:p>
                  </a:txBody>
                  <a:tcPr/>
                </a:tc>
              </a:tr>
              <a:tr h="0">
                <a:tc>
                  <a:txBody>
                    <a:bodyPr/>
                    <a:lstStyle/>
                    <a:p>
                      <a:pPr lvl="0" indent="0" marL="0">
                        <a:buNone/>
                      </a:pPr>
                      <a:r>
                        <a:rPr/>
                        <a:t>Construction</a:t>
                      </a:r>
                    </a:p>
                  </a:txBody>
                </a:tc>
                <a:tc>
                  <a:txBody>
                    <a:bodyPr/>
                    <a:lstStyle/>
                    <a:p>
                      <a:pPr lvl="0" indent="0" marL="0">
                        <a:buNone/>
                      </a:pPr>
                      <a:r>
                        <a:rPr/>
                        <a:t>$790</a:t>
                      </a:r>
                    </a:p>
                  </a:txBody>
                </a:tc>
              </a:tr>
              <a:tr h="0">
                <a:tc>
                  <a:txBody>
                    <a:bodyPr/>
                    <a:lstStyle/>
                    <a:p>
                      <a:pPr lvl="0" indent="0" marL="0">
                        <a:buNone/>
                      </a:pPr>
                      <a:r>
                        <a:rPr/>
                        <a:t>Professional Services</a:t>
                      </a:r>
                    </a:p>
                  </a:txBody>
                </a:tc>
                <a:tc>
                  <a:txBody>
                    <a:bodyPr/>
                    <a:lstStyle/>
                    <a:p>
                      <a:pPr lvl="0" indent="0" marL="0">
                        <a:buNone/>
                      </a:pPr>
                      <a:r>
                        <a:rPr/>
                        <a:t>$758</a:t>
                      </a:r>
                    </a:p>
                  </a:txBody>
                </a:tc>
              </a:tr>
              <a:tr h="0">
                <a:tc>
                  <a:txBody>
                    <a:bodyPr/>
                    <a:lstStyle/>
                    <a:p>
                      <a:pPr lvl="0" indent="0" marL="0">
                        <a:buNone/>
                      </a:pPr>
                      <a:r>
                        <a:rPr/>
                        <a:t>Accommodation/Food</a:t>
                      </a:r>
                    </a:p>
                  </a:txBody>
                </a:tc>
                <a:tc>
                  <a:txBody>
                    <a:bodyPr/>
                    <a:lstStyle/>
                    <a:p>
                      <a:pPr lvl="0" indent="0" marL="0">
                        <a:buNone/>
                      </a:pPr>
                      <a:r>
                        <a:rPr/>
                        <a:t>$629</a:t>
                      </a:r>
                    </a:p>
                  </a:txBody>
                </a:tc>
              </a:tr>
              <a:tr h="0">
                <a:tc>
                  <a:txBody>
                    <a:bodyPr/>
                    <a:lstStyle/>
                    <a:p>
                      <a:pPr lvl="0" indent="0" marL="0">
                        <a:buNone/>
                      </a:pPr>
                      <a:r>
                        <a:rPr/>
                        <a:t>Finance/Insurance</a:t>
                      </a:r>
                    </a:p>
                  </a:txBody>
                </a:tc>
                <a:tc>
                  <a:txBody>
                    <a:bodyPr/>
                    <a:lstStyle/>
                    <a:p>
                      <a:pPr lvl="0" indent="0" marL="0">
                        <a:buNone/>
                      </a:pPr>
                      <a:r>
                        <a:rPr/>
                        <a:t>$574</a:t>
                      </a:r>
                    </a:p>
                  </a:txBody>
                </a:tc>
              </a:tr>
              <a:tr h="0">
                <a:tc>
                  <a:txBody>
                    <a:bodyPr/>
                    <a:lstStyle/>
                    <a:p>
                      <a:pPr lvl="0" indent="0" marL="0">
                        <a:buNone/>
                      </a:pPr>
                      <a:r>
                        <a:rPr/>
                        <a:t>Health Care</a:t>
                      </a:r>
                    </a:p>
                  </a:txBody>
                </a:tc>
                <a:tc>
                  <a:txBody>
                    <a:bodyPr/>
                    <a:lstStyle/>
                    <a:p>
                      <a:pPr lvl="0" indent="0" marL="0">
                        <a:buNone/>
                      </a:pPr>
                      <a:r>
                        <a:rPr/>
                        <a:t>$516</a:t>
                      </a:r>
                    </a:p>
                  </a:txBody>
                </a:tc>
              </a:tr>
              <a:tr h="0">
                <a:tc>
                  <a:txBody>
                    <a:bodyPr/>
                    <a:lstStyle/>
                    <a:p>
                      <a:pPr lvl="0" indent="0" marL="0">
                        <a:buNone/>
                      </a:pPr>
                      <a:r>
                        <a:rPr/>
                        <a:t>Manufacturing</a:t>
                      </a:r>
                    </a:p>
                  </a:txBody>
                </a:tc>
                <a:tc>
                  <a:txBody>
                    <a:bodyPr/>
                    <a:lstStyle/>
                    <a:p>
                      <a:pPr lvl="0" indent="0" marL="0">
                        <a:buNone/>
                      </a:pPr>
                      <a:r>
                        <a:rPr/>
                        <a:t>$486</a:t>
                      </a:r>
                    </a:p>
                  </a:txBody>
                </a:tc>
              </a:tr>
              <a:tr h="0">
                <a:tc>
                  <a:txBody>
                    <a:bodyPr/>
                    <a:lstStyle/>
                    <a:p>
                      <a:pPr lvl="0" indent="0" marL="0">
                        <a:buNone/>
                      </a:pPr>
                      <a:r>
                        <a:rPr/>
                        <a:t>Information</a:t>
                      </a:r>
                    </a:p>
                  </a:txBody>
                </a:tc>
                <a:tc>
                  <a:txBody>
                    <a:bodyPr/>
                    <a:lstStyle/>
                    <a:p>
                      <a:pPr lvl="0" indent="0" marL="0">
                        <a:buNone/>
                      </a:pPr>
                      <a:r>
                        <a:rPr/>
                        <a:t>$475</a:t>
                      </a:r>
                    </a:p>
                  </a:txBody>
                </a:tc>
              </a:tr>
              <a:tr h="0">
                <a:tc>
                  <a:txBody>
                    <a:bodyPr/>
                    <a:lstStyle/>
                    <a:p>
                      <a:pPr lvl="0" indent="0" marL="0">
                        <a:buNone/>
                      </a:pPr>
                      <a:r>
                        <a:rPr/>
                        <a:t>Retail Trade</a:t>
                      </a:r>
                    </a:p>
                  </a:txBody>
                </a:tc>
                <a:tc>
                  <a:txBody>
                    <a:bodyPr/>
                    <a:lstStyle/>
                    <a:p>
                      <a:pPr lvl="0" indent="0" marL="0">
                        <a:buNone/>
                      </a:pPr>
                      <a:r>
                        <a:rPr/>
                        <a:t>$309</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lots/premium_per_life_sector.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Premium per Life by Sector</a:t>
            </a:r>
          </a:p>
        </p:txBody>
      </p:sp>
      <p:sp>
        <p:nvSpPr>
          <p:cNvPr id="3" name="Content Placeholder 2"/>
          <p:cNvSpPr>
            <a:spLocks noGrp="1"/>
          </p:cNvSpPr>
          <p:nvPr>
            <p:ph idx="1"/>
          </p:nvPr>
        </p:nvSpPr>
        <p:spPr/>
        <p:txBody>
          <a:bodyPr/>
          <a:lstStyle/>
          <a:p>
            <a:pPr lvl="0" indent="0" marL="0">
              <a:buNone/>
            </a:pPr>
            <a:r>
              <a:rPr b="1"/>
              <a:t>Speaker Notes:</a:t>
            </a:r>
          </a:p>
          <a:p>
            <a:pPr lvl="0" indent="0" marL="0">
              <a:buNone/>
            </a:pPr>
            <a:r>
              <a:rPr/>
              <a:t>This slide shows the financial magnitude of benefits programs and reveals important patterns: 1. Pension plans dominate filings (421K vs 73K welfare) 2. Premium per life varies significantly by industry 3. Construction has highest per-capita premiums ($790) 4. Retail has lowest ($309)</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5: Top Brokers</a:t>
            </a:r>
          </a:p>
        </p:txBody>
      </p:sp>
      <p:sp>
        <p:nvSpPr>
          <p:cNvPr id="4" name="Text Placeholder 3"/>
          <p:cNvSpPr>
            <a:spLocks noGrp="1"/>
          </p:cNvSpPr>
          <p:nvPr>
            <p:ph idx="2" sz="half" type="body"/>
          </p:nvPr>
        </p:nvSpPr>
        <p:spPr/>
        <p:txBody>
          <a:bodyPr/>
          <a:lstStyle/>
          <a:p>
            <a:pPr lvl="0" indent="0" marL="0">
              <a:spcBef>
                <a:spcPts val="3000"/>
              </a:spcBef>
              <a:buNone/>
            </a:pPr>
            <a:r>
              <a:rPr b="1"/>
              <a:t>Top 10 Brokers by Filings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Rank</a:t>
                      </a:r>
                    </a:p>
                  </a:txBody>
                  <a:tcPr/>
                </a:tc>
                <a:tc>
                  <a:txBody>
                    <a:bodyPr/>
                    <a:lstStyle/>
                    <a:p>
                      <a:pPr lvl="0" indent="0" marL="0">
                        <a:buNone/>
                      </a:pPr>
                      <a:r>
                        <a:rPr/>
                        <a:t>Broker</a:t>
                      </a:r>
                    </a:p>
                  </a:txBody>
                  <a:tcPr/>
                </a:tc>
                <a:tc>
                  <a:txBody>
                    <a:bodyPr/>
                    <a:lstStyle/>
                    <a:p>
                      <a:pPr lvl="0" indent="0" marL="0">
                        <a:buNone/>
                      </a:pPr>
                      <a:r>
                        <a:rPr/>
                        <a:t>Filings</a:t>
                      </a:r>
                    </a:p>
                  </a:txBody>
                  <a:tcPr/>
                </a:tc>
              </a:tr>
              <a:tr h="0">
                <a:tc>
                  <a:txBody>
                    <a:bodyPr/>
                    <a:lstStyle/>
                    <a:p>
                      <a:pPr lvl="0" indent="0" marL="0">
                        <a:buNone/>
                      </a:pPr>
                      <a:r>
                        <a:rPr/>
                        <a:t>1</a:t>
                      </a:r>
                    </a:p>
                  </a:txBody>
                </a:tc>
                <a:tc>
                  <a:txBody>
                    <a:bodyPr/>
                    <a:lstStyle/>
                    <a:p>
                      <a:pPr lvl="0" indent="0" marL="0">
                        <a:buNone/>
                      </a:pPr>
                      <a:r>
                        <a:rPr/>
                        <a:t>USI Insurance Services</a:t>
                      </a:r>
                    </a:p>
                  </a:txBody>
                </a:tc>
                <a:tc>
                  <a:txBody>
                    <a:bodyPr/>
                    <a:lstStyle/>
                    <a:p>
                      <a:pPr lvl="0" indent="0" marL="0">
                        <a:buNone/>
                      </a:pPr>
                      <a:r>
                        <a:rPr/>
                        <a:t>12,891</a:t>
                      </a:r>
                    </a:p>
                  </a:txBody>
                </a:tc>
              </a:tr>
              <a:tr h="0">
                <a:tc>
                  <a:txBody>
                    <a:bodyPr/>
                    <a:lstStyle/>
                    <a:p>
                      <a:pPr lvl="0" indent="0" marL="0">
                        <a:buNone/>
                      </a:pPr>
                      <a:r>
                        <a:rPr/>
                        <a:t>2</a:t>
                      </a:r>
                    </a:p>
                  </a:txBody>
                </a:tc>
                <a:tc>
                  <a:txBody>
                    <a:bodyPr/>
                    <a:lstStyle/>
                    <a:p>
                      <a:pPr lvl="0" indent="0" marL="0">
                        <a:buNone/>
                      </a:pPr>
                      <a:r>
                        <a:rPr/>
                        <a:t>Gallagher Benefit Services</a:t>
                      </a:r>
                    </a:p>
                  </a:txBody>
                </a:tc>
                <a:tc>
                  <a:txBody>
                    <a:bodyPr/>
                    <a:lstStyle/>
                    <a:p>
                      <a:pPr lvl="0" indent="0" marL="0">
                        <a:buNone/>
                      </a:pPr>
                      <a:r>
                        <a:rPr/>
                        <a:t>9,932</a:t>
                      </a:r>
                    </a:p>
                  </a:txBody>
                </a:tc>
              </a:tr>
              <a:tr h="0">
                <a:tc>
                  <a:txBody>
                    <a:bodyPr/>
                    <a:lstStyle/>
                    <a:p>
                      <a:pPr lvl="0" indent="0" marL="0">
                        <a:buNone/>
                      </a:pPr>
                      <a:r>
                        <a:rPr/>
                        <a:t>3</a:t>
                      </a:r>
                    </a:p>
                  </a:txBody>
                </a:tc>
                <a:tc>
                  <a:txBody>
                    <a:bodyPr/>
                    <a:lstStyle/>
                    <a:p>
                      <a:pPr lvl="0" indent="0" marL="0">
                        <a:buNone/>
                      </a:pPr>
                      <a:r>
                        <a:rPr/>
                        <a:t>Lockton Companies</a:t>
                      </a:r>
                    </a:p>
                  </a:txBody>
                </a:tc>
                <a:tc>
                  <a:txBody>
                    <a:bodyPr/>
                    <a:lstStyle/>
                    <a:p>
                      <a:pPr lvl="0" indent="0" marL="0">
                        <a:buNone/>
                      </a:pPr>
                      <a:r>
                        <a:rPr/>
                        <a:t>9,861</a:t>
                      </a:r>
                    </a:p>
                  </a:txBody>
                </a:tc>
              </a:tr>
              <a:tr h="0">
                <a:tc>
                  <a:txBody>
                    <a:bodyPr/>
                    <a:lstStyle/>
                    <a:p>
                      <a:pPr lvl="0" indent="0" marL="0">
                        <a:buNone/>
                      </a:pPr>
                      <a:r>
                        <a:rPr/>
                        <a:t>4</a:t>
                      </a:r>
                    </a:p>
                  </a:txBody>
                </a:tc>
                <a:tc>
                  <a:txBody>
                    <a:bodyPr/>
                    <a:lstStyle/>
                    <a:p>
                      <a:pPr lvl="0" indent="0" marL="0">
                        <a:buNone/>
                      </a:pPr>
                      <a:r>
                        <a:rPr/>
                        <a:t>Marsh &amp; McLennan Agency</a:t>
                      </a:r>
                    </a:p>
                  </a:txBody>
                </a:tc>
                <a:tc>
                  <a:txBody>
                    <a:bodyPr/>
                    <a:lstStyle/>
                    <a:p>
                      <a:pPr lvl="0" indent="0" marL="0">
                        <a:buNone/>
                      </a:pPr>
                      <a:r>
                        <a:rPr/>
                        <a:t>9,492</a:t>
                      </a:r>
                    </a:p>
                  </a:txBody>
                </a:tc>
              </a:tr>
              <a:tr h="0">
                <a:tc>
                  <a:txBody>
                    <a:bodyPr/>
                    <a:lstStyle/>
                    <a:p>
                      <a:pPr lvl="0" indent="0" marL="0">
                        <a:buNone/>
                      </a:pPr>
                      <a:r>
                        <a:rPr/>
                        <a:t>5</a:t>
                      </a:r>
                    </a:p>
                  </a:txBody>
                </a:tc>
                <a:tc>
                  <a:txBody>
                    <a:bodyPr/>
                    <a:lstStyle/>
                    <a:p>
                      <a:pPr lvl="0" indent="0" marL="0">
                        <a:buNone/>
                      </a:pPr>
                      <a:r>
                        <a:rPr/>
                        <a:t>Mercer Health &amp; Benefits</a:t>
                      </a:r>
                    </a:p>
                  </a:txBody>
                </a:tc>
                <a:tc>
                  <a:txBody>
                    <a:bodyPr/>
                    <a:lstStyle/>
                    <a:p>
                      <a:pPr lvl="0" indent="0" marL="0">
                        <a:buNone/>
                      </a:pPr>
                      <a:r>
                        <a:rPr/>
                        <a:t>6,033</a:t>
                      </a:r>
                    </a:p>
                  </a:txBody>
                </a:tc>
              </a:tr>
              <a:tr h="0">
                <a:tc>
                  <a:txBody>
                    <a:bodyPr/>
                    <a:lstStyle/>
                    <a:p>
                      <a:pPr lvl="0" indent="0" marL="0">
                        <a:buNone/>
                      </a:pPr>
                      <a:r>
                        <a:rPr/>
                        <a:t>6</a:t>
                      </a:r>
                    </a:p>
                  </a:txBody>
                </a:tc>
                <a:tc>
                  <a:txBody>
                    <a:bodyPr/>
                    <a:lstStyle/>
                    <a:p>
                      <a:pPr lvl="0" indent="0" marL="0">
                        <a:buNone/>
                      </a:pPr>
                      <a:r>
                        <a:rPr/>
                        <a:t>Willis Towers Watson</a:t>
                      </a:r>
                    </a:p>
                  </a:txBody>
                </a:tc>
                <a:tc>
                  <a:txBody>
                    <a:bodyPr/>
                    <a:lstStyle/>
                    <a:p>
                      <a:pPr lvl="0" indent="0" marL="0">
                        <a:buNone/>
                      </a:pPr>
                      <a:r>
                        <a:rPr/>
                        <a:t>4,306</a:t>
                      </a:r>
                    </a:p>
                  </a:txBody>
                </a:tc>
              </a:tr>
              <a:tr h="0">
                <a:tc>
                  <a:txBody>
                    <a:bodyPr/>
                    <a:lstStyle/>
                    <a:p>
                      <a:pPr lvl="0" indent="0" marL="0">
                        <a:buNone/>
                      </a:pPr>
                      <a:r>
                        <a:rPr/>
                        <a:t>7</a:t>
                      </a:r>
                    </a:p>
                  </a:txBody>
                </a:tc>
                <a:tc>
                  <a:txBody>
                    <a:bodyPr/>
                    <a:lstStyle/>
                    <a:p>
                      <a:pPr lvl="0" indent="0" marL="0">
                        <a:buNone/>
                      </a:pPr>
                      <a:r>
                        <a:rPr/>
                        <a:t>Alliant Insurance Services</a:t>
                      </a:r>
                    </a:p>
                  </a:txBody>
                </a:tc>
                <a:tc>
                  <a:txBody>
                    <a:bodyPr/>
                    <a:lstStyle/>
                    <a:p>
                      <a:pPr lvl="0" indent="0" marL="0">
                        <a:buNone/>
                      </a:pPr>
                      <a:r>
                        <a:rPr/>
                        <a:t>3,317</a:t>
                      </a:r>
                    </a:p>
                  </a:txBody>
                </a:tc>
              </a:tr>
              <a:tr h="0">
                <a:tc>
                  <a:txBody>
                    <a:bodyPr/>
                    <a:lstStyle/>
                    <a:p>
                      <a:pPr lvl="0" indent="0" marL="0">
                        <a:buNone/>
                      </a:pPr>
                      <a:r>
                        <a:rPr/>
                        <a:t>8</a:t>
                      </a:r>
                    </a:p>
                  </a:txBody>
                </a:tc>
                <a:tc>
                  <a:txBody>
                    <a:bodyPr/>
                    <a:lstStyle/>
                    <a:p>
                      <a:pPr lvl="0" indent="0" marL="0">
                        <a:buNone/>
                      </a:pPr>
                      <a:r>
                        <a:rPr/>
                        <a:t>Edgewood Partners Insurance</a:t>
                      </a:r>
                    </a:p>
                  </a:txBody>
                </a:tc>
                <a:tc>
                  <a:txBody>
                    <a:bodyPr/>
                    <a:lstStyle/>
                    <a:p>
                      <a:pPr lvl="0" indent="0" marL="0">
                        <a:buNone/>
                      </a:pPr>
                      <a:r>
                        <a:rPr/>
                        <a:t>2,641</a:t>
                      </a:r>
                    </a:p>
                  </a:txBody>
                </a:tc>
              </a:tr>
              <a:tr h="0">
                <a:tc>
                  <a:txBody>
                    <a:bodyPr/>
                    <a:lstStyle/>
                    <a:p>
                      <a:pPr lvl="0" indent="0" marL="0">
                        <a:buNone/>
                      </a:pPr>
                      <a:r>
                        <a:rPr/>
                        <a:t>9</a:t>
                      </a:r>
                    </a:p>
                  </a:txBody>
                </a:tc>
                <a:tc>
                  <a:txBody>
                    <a:bodyPr/>
                    <a:lstStyle/>
                    <a:p>
                      <a:pPr lvl="0" indent="0" marL="0">
                        <a:buNone/>
                      </a:pPr>
                      <a:r>
                        <a:rPr/>
                        <a:t>Aon Consulting</a:t>
                      </a:r>
                    </a:p>
                  </a:txBody>
                </a:tc>
                <a:tc>
                  <a:txBody>
                    <a:bodyPr/>
                    <a:lstStyle/>
                    <a:p>
                      <a:pPr lvl="0" indent="0" marL="0">
                        <a:buNone/>
                      </a:pPr>
                      <a:r>
                        <a:rPr/>
                        <a:t>2,437</a:t>
                      </a:r>
                    </a:p>
                  </a:txBody>
                </a:tc>
              </a:tr>
              <a:tr h="0">
                <a:tc>
                  <a:txBody>
                    <a:bodyPr/>
                    <a:lstStyle/>
                    <a:p>
                      <a:pPr lvl="0" indent="0" marL="0">
                        <a:buNone/>
                      </a:pPr>
                      <a:r>
                        <a:rPr/>
                        <a:t>10</a:t>
                      </a:r>
                    </a:p>
                  </a:txBody>
                </a:tc>
                <a:tc>
                  <a:txBody>
                    <a:bodyPr/>
                    <a:lstStyle/>
                    <a:p>
                      <a:pPr lvl="0" indent="0" marL="0">
                        <a:buNone/>
                      </a:pPr>
                      <a:r>
                        <a:rPr/>
                        <a:t>Digital Insurance</a:t>
                      </a:r>
                    </a:p>
                  </a:txBody>
                </a:tc>
                <a:tc>
                  <a:txBody>
                    <a:bodyPr/>
                    <a:lstStyle/>
                    <a:p>
                      <a:pPr lvl="0" indent="0" marL="0">
                        <a:buNone/>
                      </a:pPr>
                      <a:r>
                        <a:rPr/>
                        <a:t>2,008</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Total</a:t>
            </a:r>
            <a:r>
              <a:rPr/>
              <a:t>: 30,984 unique brokers in sample</a:t>
            </a:r>
          </a:p>
        </p:txBody>
      </p:sp>
      <p:pic>
        <p:nvPicPr>
          <p:cNvPr descr="plots/top_brokers.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Top Brokers</a:t>
            </a:r>
          </a:p>
        </p:txBody>
      </p:sp>
      <p:sp>
        <p:nvSpPr>
          <p:cNvPr id="3" name="Content Placeholder 2"/>
          <p:cNvSpPr>
            <a:spLocks noGrp="1"/>
          </p:cNvSpPr>
          <p:nvPr>
            <p:ph idx="1"/>
          </p:nvPr>
        </p:nvSpPr>
        <p:spPr/>
        <p:txBody>
          <a:bodyPr/>
          <a:lstStyle/>
          <a:p>
            <a:pPr lvl="0" indent="0" marL="0">
              <a:buNone/>
            </a:pPr>
            <a:r>
              <a:rPr b="1"/>
              <a:t>Speaker Notes:</a:t>
            </a:r>
          </a:p>
          <a:p>
            <a:pPr lvl="0" indent="0" marL="0">
              <a:buNone/>
            </a:pPr>
            <a:r>
              <a:rPr/>
              <a:t>The broker market shows significant concentration: 1. Top 4 brokers serve ~42K filings combined 2. Long tail: 30K+ unique brokers, but most have few clients 3. Name standardization needed for accurate analysis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Question 5: Top Carriers</a:t>
            </a:r>
          </a:p>
        </p:txBody>
      </p:sp>
      <p:sp>
        <p:nvSpPr>
          <p:cNvPr id="4" name="Text Placeholder 3"/>
          <p:cNvSpPr>
            <a:spLocks noGrp="1"/>
          </p:cNvSpPr>
          <p:nvPr>
            <p:ph idx="2" sz="half" type="body"/>
          </p:nvPr>
        </p:nvSpPr>
        <p:spPr/>
        <p:txBody>
          <a:bodyPr/>
          <a:lstStyle/>
          <a:p>
            <a:pPr lvl="0" indent="0" marL="0">
              <a:spcBef>
                <a:spcPts val="3000"/>
              </a:spcBef>
              <a:buNone/>
            </a:pPr>
            <a:r>
              <a:rPr b="1"/>
              <a:t>Top 10 Carriers by Filings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Rank</a:t>
                      </a:r>
                    </a:p>
                  </a:txBody>
                  <a:tcPr/>
                </a:tc>
                <a:tc>
                  <a:txBody>
                    <a:bodyPr/>
                    <a:lstStyle/>
                    <a:p>
                      <a:pPr lvl="0" indent="0" marL="0">
                        <a:buNone/>
                      </a:pPr>
                      <a:r>
                        <a:rPr/>
                        <a:t>Carrier</a:t>
                      </a:r>
                    </a:p>
                  </a:txBody>
                  <a:tcPr/>
                </a:tc>
                <a:tc>
                  <a:txBody>
                    <a:bodyPr/>
                    <a:lstStyle/>
                    <a:p>
                      <a:pPr lvl="0" indent="0" marL="0">
                        <a:buNone/>
                      </a:pPr>
                      <a:r>
                        <a:rPr/>
                        <a:t>Filings</a:t>
                      </a:r>
                    </a:p>
                  </a:txBody>
                  <a:tcPr/>
                </a:tc>
              </a:tr>
              <a:tr h="0">
                <a:tc>
                  <a:txBody>
                    <a:bodyPr/>
                    <a:lstStyle/>
                    <a:p>
                      <a:pPr lvl="0" indent="0" marL="0">
                        <a:buNone/>
                      </a:pPr>
                      <a:r>
                        <a:rPr/>
                        <a:t>1</a:t>
                      </a:r>
                    </a:p>
                  </a:txBody>
                </a:tc>
                <a:tc>
                  <a:txBody>
                    <a:bodyPr/>
                    <a:lstStyle/>
                    <a:p>
                      <a:pPr lvl="0" indent="0" marL="0">
                        <a:buNone/>
                      </a:pPr>
                      <a:r>
                        <a:rPr/>
                        <a:t>Life Insurance Company of North America</a:t>
                      </a:r>
                    </a:p>
                  </a:txBody>
                </a:tc>
                <a:tc>
                  <a:txBody>
                    <a:bodyPr/>
                    <a:lstStyle/>
                    <a:p>
                      <a:pPr lvl="0" indent="0" marL="0">
                        <a:buNone/>
                      </a:pPr>
                      <a:r>
                        <a:rPr/>
                        <a:t>23,175</a:t>
                      </a:r>
                    </a:p>
                  </a:txBody>
                </a:tc>
              </a:tr>
              <a:tr h="0">
                <a:tc>
                  <a:txBody>
                    <a:bodyPr/>
                    <a:lstStyle/>
                    <a:p>
                      <a:pPr lvl="0" indent="0" marL="0">
                        <a:buNone/>
                      </a:pPr>
                      <a:r>
                        <a:rPr/>
                        <a:t>2</a:t>
                      </a:r>
                    </a:p>
                  </a:txBody>
                </a:tc>
                <a:tc>
                  <a:txBody>
                    <a:bodyPr/>
                    <a:lstStyle/>
                    <a:p>
                      <a:pPr lvl="0" indent="0" marL="0">
                        <a:buNone/>
                      </a:pPr>
                      <a:r>
                        <a:rPr/>
                        <a:t>United of Omaha Life</a:t>
                      </a:r>
                    </a:p>
                  </a:txBody>
                </a:tc>
                <a:tc>
                  <a:txBody>
                    <a:bodyPr/>
                    <a:lstStyle/>
                    <a:p>
                      <a:pPr lvl="0" indent="0" marL="0">
                        <a:buNone/>
                      </a:pPr>
                      <a:r>
                        <a:rPr/>
                        <a:t>21,419</a:t>
                      </a:r>
                    </a:p>
                  </a:txBody>
                </a:tc>
              </a:tr>
              <a:tr h="0">
                <a:tc>
                  <a:txBody>
                    <a:bodyPr/>
                    <a:lstStyle/>
                    <a:p>
                      <a:pPr lvl="0" indent="0" marL="0">
                        <a:buNone/>
                      </a:pPr>
                      <a:r>
                        <a:rPr/>
                        <a:t>3</a:t>
                      </a:r>
                    </a:p>
                  </a:txBody>
                </a:tc>
                <a:tc>
                  <a:txBody>
                    <a:bodyPr/>
                    <a:lstStyle/>
                    <a:p>
                      <a:pPr lvl="0" indent="0" marL="0">
                        <a:buNone/>
                      </a:pPr>
                      <a:r>
                        <a:rPr/>
                        <a:t>Lincoln National Life</a:t>
                      </a:r>
                    </a:p>
                  </a:txBody>
                </a:tc>
                <a:tc>
                  <a:txBody>
                    <a:bodyPr/>
                    <a:lstStyle/>
                    <a:p>
                      <a:pPr lvl="0" indent="0" marL="0">
                        <a:buNone/>
                      </a:pPr>
                      <a:r>
                        <a:rPr/>
                        <a:t>19,100</a:t>
                      </a:r>
                    </a:p>
                  </a:txBody>
                </a:tc>
              </a:tr>
              <a:tr h="0">
                <a:tc>
                  <a:txBody>
                    <a:bodyPr/>
                    <a:lstStyle/>
                    <a:p>
                      <a:pPr lvl="0" indent="0" marL="0">
                        <a:buNone/>
                      </a:pPr>
                      <a:r>
                        <a:rPr/>
                        <a:t>4</a:t>
                      </a:r>
                    </a:p>
                  </a:txBody>
                </a:tc>
                <a:tc>
                  <a:txBody>
                    <a:bodyPr/>
                    <a:lstStyle/>
                    <a:p>
                      <a:pPr lvl="0" indent="0" marL="0">
                        <a:buNone/>
                      </a:pPr>
                      <a:r>
                        <a:rPr/>
                        <a:t>Metropolitan Life</a:t>
                      </a:r>
                    </a:p>
                  </a:txBody>
                </a:tc>
                <a:tc>
                  <a:txBody>
                    <a:bodyPr/>
                    <a:lstStyle/>
                    <a:p>
                      <a:pPr lvl="0" indent="0" marL="0">
                        <a:buNone/>
                      </a:pPr>
                      <a:r>
                        <a:rPr/>
                        <a:t>18,841</a:t>
                      </a:r>
                    </a:p>
                  </a:txBody>
                </a:tc>
              </a:tr>
              <a:tr h="0">
                <a:tc>
                  <a:txBody>
                    <a:bodyPr/>
                    <a:lstStyle/>
                    <a:p>
                      <a:pPr lvl="0" indent="0" marL="0">
                        <a:buNone/>
                      </a:pPr>
                      <a:r>
                        <a:rPr/>
                        <a:t>5</a:t>
                      </a:r>
                    </a:p>
                  </a:txBody>
                </a:tc>
                <a:tc>
                  <a:txBody>
                    <a:bodyPr/>
                    <a:lstStyle/>
                    <a:p>
                      <a:pPr lvl="0" indent="0" marL="0">
                        <a:buNone/>
                      </a:pPr>
                      <a:r>
                        <a:rPr/>
                        <a:t>Unum Life Insurance</a:t>
                      </a:r>
                    </a:p>
                  </a:txBody>
                </a:tc>
                <a:tc>
                  <a:txBody>
                    <a:bodyPr/>
                    <a:lstStyle/>
                    <a:p>
                      <a:pPr lvl="0" indent="0" marL="0">
                        <a:buNone/>
                      </a:pPr>
                      <a:r>
                        <a:rPr/>
                        <a:t>18,477</a:t>
                      </a:r>
                    </a:p>
                  </a:txBody>
                </a:tc>
              </a:tr>
              <a:tr h="0">
                <a:tc>
                  <a:txBody>
                    <a:bodyPr/>
                    <a:lstStyle/>
                    <a:p>
                      <a:pPr lvl="0" indent="0" marL="0">
                        <a:buNone/>
                      </a:pPr>
                      <a:r>
                        <a:rPr/>
                        <a:t>6</a:t>
                      </a:r>
                    </a:p>
                  </a:txBody>
                </a:tc>
                <a:tc>
                  <a:txBody>
                    <a:bodyPr/>
                    <a:lstStyle/>
                    <a:p>
                      <a:pPr lvl="0" indent="0" marL="0">
                        <a:buNone/>
                      </a:pPr>
                      <a:r>
                        <a:rPr/>
                        <a:t>Principal Life Insurance</a:t>
                      </a:r>
                    </a:p>
                  </a:txBody>
                </a:tc>
                <a:tc>
                  <a:txBody>
                    <a:bodyPr/>
                    <a:lstStyle/>
                    <a:p>
                      <a:pPr lvl="0" indent="0" marL="0">
                        <a:buNone/>
                      </a:pPr>
                      <a:r>
                        <a:rPr/>
                        <a:t>16,947</a:t>
                      </a:r>
                    </a:p>
                  </a:txBody>
                </a:tc>
              </a:tr>
              <a:tr h="0">
                <a:tc>
                  <a:txBody>
                    <a:bodyPr/>
                    <a:lstStyle/>
                    <a:p>
                      <a:pPr lvl="0" indent="0" marL="0">
                        <a:buNone/>
                      </a:pPr>
                      <a:r>
                        <a:rPr/>
                        <a:t>7</a:t>
                      </a:r>
                    </a:p>
                  </a:txBody>
                </a:tc>
                <a:tc>
                  <a:txBody>
                    <a:bodyPr/>
                    <a:lstStyle/>
                    <a:p>
                      <a:pPr lvl="0" indent="0" marL="0">
                        <a:buNone/>
                      </a:pPr>
                      <a:r>
                        <a:rPr/>
                        <a:t>Vision Service Plan</a:t>
                      </a:r>
                    </a:p>
                  </a:txBody>
                </a:tc>
                <a:tc>
                  <a:txBody>
                    <a:bodyPr/>
                    <a:lstStyle/>
                    <a:p>
                      <a:pPr lvl="0" indent="0" marL="0">
                        <a:buNone/>
                      </a:pPr>
                      <a:r>
                        <a:rPr/>
                        <a:t>16,111</a:t>
                      </a:r>
                    </a:p>
                  </a:txBody>
                </a:tc>
              </a:tr>
              <a:tr h="0">
                <a:tc>
                  <a:txBody>
                    <a:bodyPr/>
                    <a:lstStyle/>
                    <a:p>
                      <a:pPr lvl="0" indent="0" marL="0">
                        <a:buNone/>
                      </a:pPr>
                      <a:r>
                        <a:rPr/>
                        <a:t>8</a:t>
                      </a:r>
                    </a:p>
                  </a:txBody>
                </a:tc>
                <a:tc>
                  <a:txBody>
                    <a:bodyPr/>
                    <a:lstStyle/>
                    <a:p>
                      <a:pPr lvl="0" indent="0" marL="0">
                        <a:buNone/>
                      </a:pPr>
                      <a:r>
                        <a:rPr/>
                        <a:t>Guardian Life</a:t>
                      </a:r>
                    </a:p>
                  </a:txBody>
                </a:tc>
                <a:tc>
                  <a:txBody>
                    <a:bodyPr/>
                    <a:lstStyle/>
                    <a:p>
                      <a:pPr lvl="0" indent="0" marL="0">
                        <a:buNone/>
                      </a:pPr>
                      <a:r>
                        <a:rPr/>
                        <a:t>11,850</a:t>
                      </a:r>
                    </a:p>
                  </a:txBody>
                </a:tc>
              </a:tr>
              <a:tr h="0">
                <a:tc>
                  <a:txBody>
                    <a:bodyPr/>
                    <a:lstStyle/>
                    <a:p>
                      <a:pPr lvl="0" indent="0" marL="0">
                        <a:buNone/>
                      </a:pPr>
                      <a:r>
                        <a:rPr/>
                        <a:t>9</a:t>
                      </a:r>
                    </a:p>
                  </a:txBody>
                </a:tc>
                <a:tc>
                  <a:txBody>
                    <a:bodyPr/>
                    <a:lstStyle/>
                    <a:p>
                      <a:pPr lvl="0" indent="0" marL="0">
                        <a:buNone/>
                      </a:pPr>
                      <a:r>
                        <a:rPr/>
                        <a:t>UnitedHealthcare Insurance</a:t>
                      </a:r>
                    </a:p>
                  </a:txBody>
                </a:tc>
                <a:tc>
                  <a:txBody>
                    <a:bodyPr/>
                    <a:lstStyle/>
                    <a:p>
                      <a:pPr lvl="0" indent="0" marL="0">
                        <a:buNone/>
                      </a:pPr>
                      <a:r>
                        <a:rPr/>
                        <a:t>10,876</a:t>
                      </a:r>
                    </a:p>
                  </a:txBody>
                </a:tc>
              </a:tr>
              <a:tr h="0">
                <a:tc>
                  <a:txBody>
                    <a:bodyPr/>
                    <a:lstStyle/>
                    <a:p>
                      <a:pPr lvl="0" indent="0" marL="0">
                        <a:buNone/>
                      </a:pPr>
                      <a:r>
                        <a:rPr/>
                        <a:t>10</a:t>
                      </a:r>
                    </a:p>
                  </a:txBody>
                </a:tc>
                <a:tc>
                  <a:txBody>
                    <a:bodyPr/>
                    <a:lstStyle/>
                    <a:p>
                      <a:pPr lvl="0" indent="0" marL="0">
                        <a:buNone/>
                      </a:pPr>
                      <a:r>
                        <a:rPr/>
                        <a:t>Standard Insurance Company</a:t>
                      </a:r>
                    </a:p>
                  </a:txBody>
                </a:tc>
                <a:tc>
                  <a:txBody>
                    <a:bodyPr/>
                    <a:lstStyle/>
                    <a:p>
                      <a:pPr lvl="0" indent="0" marL="0">
                        <a:buNone/>
                      </a:pPr>
                      <a:r>
                        <a:rPr/>
                        <a:t>9,551</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Total</a:t>
            </a:r>
            <a:r>
              <a:rPr/>
              <a:t>: 12,844 unique carriers in sample</a:t>
            </a:r>
          </a:p>
        </p:txBody>
      </p:sp>
      <p:pic>
        <p:nvPicPr>
          <p:cNvPr descr="plots/top_carriers.png" id="0" name="Picture 1"/>
          <p:cNvPicPr>
            <a:picLocks noGrp="1" noChangeAspect="1"/>
          </p:cNvPicPr>
          <p:nvPr/>
        </p:nvPicPr>
        <p:blipFill>
          <a:blip r:embed="rId2"/>
          <a:stretch>
            <a:fillRect/>
          </a:stretch>
        </p:blipFill>
        <p:spPr bwMode="auto">
          <a:xfrm>
            <a:off x="3568700" y="863600"/>
            <a:ext cx="5105400" cy="25527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Top Carriers</a:t>
            </a:r>
          </a:p>
        </p:txBody>
      </p:sp>
      <p:sp>
        <p:nvSpPr>
          <p:cNvPr id="3" name="Content Placeholder 2"/>
          <p:cNvSpPr>
            <a:spLocks noGrp="1"/>
          </p:cNvSpPr>
          <p:nvPr>
            <p:ph idx="1"/>
          </p:nvPr>
        </p:nvSpPr>
        <p:spPr/>
        <p:txBody>
          <a:bodyPr/>
          <a:lstStyle/>
          <a:p>
            <a:pPr lvl="0" indent="0" marL="0">
              <a:buNone/>
            </a:pPr>
            <a:r>
              <a:rPr b="1"/>
              <a:t>Speaker Notes:</a:t>
            </a:r>
          </a:p>
          <a:p>
            <a:pPr lvl="0" indent="0" marL="0">
              <a:buNone/>
            </a:pPr>
            <a:r>
              <a:rPr/>
              <a:t>Carrier analysis reveals: 1. Life insurance companies dominate (retirement/401k focus) 2. Health carriers present: UnitedHealthcare at #9 3. 12K+ unique carriers suggests multi-carrier common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Product Offerings Overview</a:t>
            </a:r>
          </a:p>
        </p:txBody>
      </p:sp>
      <p:sp>
        <p:nvSpPr>
          <p:cNvPr id="4" name="Text Placeholder 3"/>
          <p:cNvSpPr>
            <a:spLocks noGrp="1"/>
          </p:cNvSpPr>
          <p:nvPr>
            <p:ph idx="2" sz="half" type="body"/>
          </p:nvPr>
        </p:nvSpPr>
        <p:spPr/>
        <p:txBody>
          <a:bodyPr/>
          <a:lstStyle/>
          <a:p>
            <a:pPr lvl="0" indent="0" marL="0">
              <a:spcBef>
                <a:spcPts val="3000"/>
              </a:spcBef>
              <a:buNone/>
            </a:pPr>
            <a:r>
              <a:rPr b="1"/>
              <a:t>Benefit Types from Form 5500</a:t>
            </a:r>
          </a:p>
          <a:p>
            <a:pPr lvl="0"/>
            <a:r>
              <a:rPr b="1"/>
              <a:t>Health Insurance</a:t>
            </a:r>
            <a:r>
              <a:rPr/>
              <a:t> - Most common welfare benefit</a:t>
            </a:r>
          </a:p>
          <a:p>
            <a:pPr lvl="0"/>
            <a:r>
              <a:rPr b="1"/>
              <a:t>Dental &amp; Vision</a:t>
            </a:r>
            <a:r>
              <a:rPr/>
              <a:t> - Often bundled with health</a:t>
            </a:r>
          </a:p>
          <a:p>
            <a:pPr lvl="0"/>
            <a:r>
              <a:rPr b="1"/>
              <a:t>Life Insurance</a:t>
            </a:r>
            <a:r>
              <a:rPr/>
              <a:t> - Common supplemental benefit</a:t>
            </a:r>
          </a:p>
          <a:p>
            <a:pPr lvl="0"/>
            <a:r>
              <a:rPr b="1"/>
              <a:t>STD/LTD</a:t>
            </a:r>
            <a:r>
              <a:rPr/>
              <a:t> - Disability coverage</a:t>
            </a:r>
          </a:p>
          <a:p>
            <a:pPr lvl="0"/>
            <a:r>
              <a:rPr b="1"/>
              <a:t>Pension/401(k)</a:t>
            </a:r>
            <a:r>
              <a:rPr/>
              <a:t> - Retirement benefits</a:t>
            </a:r>
          </a:p>
          <a:p>
            <a:pPr lvl="0" indent="0" marL="0">
              <a:spcBef>
                <a:spcPts val="3000"/>
              </a:spcBef>
              <a:buNone/>
            </a:pPr>
            <a:r>
              <a:rPr b="1"/>
              <a:t>Carrier Product Heatmap</a:t>
            </a:r>
          </a:p>
        </p:txBody>
      </p:sp>
      <p:pic>
        <p:nvPicPr>
          <p:cNvPr descr="plots/carrier_products_heatmap.png" id="0" name="Picture 1"/>
          <p:cNvPicPr>
            <a:picLocks noGrp="1" noChangeAspect="1"/>
          </p:cNvPicPr>
          <p:nvPr/>
        </p:nvPicPr>
        <p:blipFill>
          <a:blip r:embed="rId2"/>
          <a:stretch>
            <a:fillRect/>
          </a:stretch>
        </p:blipFill>
        <p:spPr bwMode="auto">
          <a:xfrm>
            <a:off x="3568700" y="685800"/>
            <a:ext cx="5105400" cy="2921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Carrier Products Heatmap</a:t>
            </a:r>
          </a:p>
        </p:txBody>
      </p:sp>
      <p:sp>
        <p:nvSpPr>
          <p:cNvPr id="3" name="Content Placeholder 2"/>
          <p:cNvSpPr>
            <a:spLocks noGrp="1"/>
          </p:cNvSpPr>
          <p:nvPr>
            <p:ph idx="1"/>
          </p:nvPr>
        </p:nvSpPr>
        <p:spPr/>
        <p:txBody>
          <a:bodyPr/>
          <a:lstStyle/>
          <a:p>
            <a:pPr lvl="0" indent="0" marL="0">
              <a:spcBef>
                <a:spcPts val="3000"/>
              </a:spcBef>
              <a:buNone/>
            </a:pPr>
            <a:r>
              <a:rPr b="1"/>
              <a:t>Broker Product Heatmap</a:t>
            </a:r>
          </a:p>
        </p:txBody>
      </p:sp>
      <p:pic>
        <p:nvPicPr>
          <p:cNvPr descr="plots/broker_products_heatmap.png" id="0" name="Picture 1"/>
          <p:cNvPicPr>
            <a:picLocks noGrp="1" noChangeAspect="1"/>
          </p:cNvPicPr>
          <p:nvPr/>
        </p:nvPicPr>
        <p:blipFill>
          <a:blip r:embed="rId3"/>
          <a:stretch>
            <a:fillRect/>
          </a:stretch>
        </p:blipFill>
        <p:spPr bwMode="auto">
          <a:xfrm>
            <a:off x="3568700" y="685800"/>
            <a:ext cx="5105400" cy="2921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Broker Products Heatmap</a:t>
            </a:r>
          </a:p>
        </p:txBody>
      </p:sp>
      <p:sp>
        <p:nvSpPr>
          <p:cNvPr id="3" name="Content Placeholder 2"/>
          <p:cNvSpPr>
            <a:spLocks noGrp="1"/>
          </p:cNvSpPr>
          <p:nvPr>
            <p:ph idx="1"/>
          </p:nvPr>
        </p:nvSpPr>
        <p:spPr/>
        <p:txBody>
          <a:bodyPr/>
          <a:lstStyle/>
          <a:p>
            <a:pPr lvl="0" indent="0" marL="0">
              <a:buNone/>
            </a:pPr>
            <a:r>
              <a:rPr b="1"/>
              <a:t>Speaker Notes:</a:t>
            </a:r>
          </a:p>
          <a:p>
            <a:pPr lvl="0" indent="0" marL="0">
              <a:buNone/>
            </a:pPr>
            <a:r>
              <a:rPr/>
              <a:t>Product analysis shows: 1. Carriers typically offer multiple product types 2. Health, life, and disability most common 3. Top brokers represent diverse product portfolios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Geographic Distribution</a:t>
            </a:r>
          </a:p>
        </p:txBody>
      </p:sp>
      <p:sp>
        <p:nvSpPr>
          <p:cNvPr id="4" name="Text Placeholder 3"/>
          <p:cNvSpPr>
            <a:spLocks noGrp="1"/>
          </p:cNvSpPr>
          <p:nvPr>
            <p:ph idx="2" sz="half" type="body"/>
          </p:nvPr>
        </p:nvSpPr>
        <p:spPr/>
        <p:txBody>
          <a:bodyPr/>
          <a:lstStyle/>
          <a:p>
            <a:pPr lvl="0" indent="0" marL="0">
              <a:spcBef>
                <a:spcPts val="3000"/>
              </a:spcBef>
              <a:buNone/>
            </a:pPr>
            <a:r>
              <a:rPr b="1"/>
              <a:t>Top 10 States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State</a:t>
                      </a:r>
                    </a:p>
                  </a:txBody>
                  <a:tcPr/>
                </a:tc>
                <a:tc>
                  <a:txBody>
                    <a:bodyPr/>
                    <a:lstStyle/>
                    <a:p>
                      <a:pPr lvl="0" indent="0" marL="0">
                        <a:buNone/>
                      </a:pPr>
                      <a:r>
                        <a:rPr/>
                        <a:t>Filings</a:t>
                      </a:r>
                    </a:p>
                  </a:txBody>
                  <a:tcPr/>
                </a:tc>
              </a:tr>
              <a:tr h="0">
                <a:tc>
                  <a:txBody>
                    <a:bodyPr/>
                    <a:lstStyle/>
                    <a:p>
                      <a:pPr lvl="0" indent="0" marL="0">
                        <a:buNone/>
                      </a:pPr>
                      <a:r>
                        <a:rPr/>
                        <a:t>CA</a:t>
                      </a:r>
                    </a:p>
                  </a:txBody>
                </a:tc>
                <a:tc>
                  <a:txBody>
                    <a:bodyPr/>
                    <a:lstStyle/>
                    <a:p>
                      <a:pPr lvl="0" indent="0" marL="0">
                        <a:buNone/>
                      </a:pPr>
                      <a:r>
                        <a:rPr/>
                        <a:t>71,358</a:t>
                      </a:r>
                    </a:p>
                  </a:txBody>
                </a:tc>
              </a:tr>
              <a:tr h="0">
                <a:tc>
                  <a:txBody>
                    <a:bodyPr/>
                    <a:lstStyle/>
                    <a:p>
                      <a:pPr lvl="0" indent="0" marL="0">
                        <a:buNone/>
                      </a:pPr>
                      <a:r>
                        <a:rPr/>
                        <a:t>NY</a:t>
                      </a:r>
                    </a:p>
                  </a:txBody>
                </a:tc>
                <a:tc>
                  <a:txBody>
                    <a:bodyPr/>
                    <a:lstStyle/>
                    <a:p>
                      <a:pPr lvl="0" indent="0" marL="0">
                        <a:buNone/>
                      </a:pPr>
                      <a:r>
                        <a:rPr/>
                        <a:t>38,373</a:t>
                      </a:r>
                    </a:p>
                  </a:txBody>
                </a:tc>
              </a:tr>
              <a:tr h="0">
                <a:tc>
                  <a:txBody>
                    <a:bodyPr/>
                    <a:lstStyle/>
                    <a:p>
                      <a:pPr lvl="0" indent="0" marL="0">
                        <a:buNone/>
                      </a:pPr>
                      <a:r>
                        <a:rPr/>
                        <a:t>TX</a:t>
                      </a:r>
                    </a:p>
                  </a:txBody>
                </a:tc>
                <a:tc>
                  <a:txBody>
                    <a:bodyPr/>
                    <a:lstStyle/>
                    <a:p>
                      <a:pPr lvl="0" indent="0" marL="0">
                        <a:buNone/>
                      </a:pPr>
                      <a:r>
                        <a:rPr/>
                        <a:t>29,983</a:t>
                      </a:r>
                    </a:p>
                  </a:txBody>
                </a:tc>
              </a:tr>
              <a:tr h="0">
                <a:tc>
                  <a:txBody>
                    <a:bodyPr/>
                    <a:lstStyle/>
                    <a:p>
                      <a:pPr lvl="0" indent="0" marL="0">
                        <a:buNone/>
                      </a:pPr>
                      <a:r>
                        <a:rPr/>
                        <a:t>FL</a:t>
                      </a:r>
                    </a:p>
                  </a:txBody>
                </a:tc>
                <a:tc>
                  <a:txBody>
                    <a:bodyPr/>
                    <a:lstStyle/>
                    <a:p>
                      <a:pPr lvl="0" indent="0" marL="0">
                        <a:buNone/>
                      </a:pPr>
                      <a:r>
                        <a:rPr/>
                        <a:t>25,008</a:t>
                      </a:r>
                    </a:p>
                  </a:txBody>
                </a:tc>
              </a:tr>
              <a:tr h="0">
                <a:tc>
                  <a:txBody>
                    <a:bodyPr/>
                    <a:lstStyle/>
                    <a:p>
                      <a:pPr lvl="0" indent="0" marL="0">
                        <a:buNone/>
                      </a:pPr>
                      <a:r>
                        <a:rPr/>
                        <a:t>OH</a:t>
                      </a:r>
                    </a:p>
                  </a:txBody>
                </a:tc>
                <a:tc>
                  <a:txBody>
                    <a:bodyPr/>
                    <a:lstStyle/>
                    <a:p>
                      <a:pPr lvl="0" indent="0" marL="0">
                        <a:buNone/>
                      </a:pPr>
                      <a:r>
                        <a:rPr/>
                        <a:t>22,226</a:t>
                      </a:r>
                    </a:p>
                  </a:txBody>
                </a:tc>
              </a:tr>
              <a:tr h="0">
                <a:tc>
                  <a:txBody>
                    <a:bodyPr/>
                    <a:lstStyle/>
                    <a:p>
                      <a:pPr lvl="0" indent="0" marL="0">
                        <a:buNone/>
                      </a:pPr>
                      <a:r>
                        <a:rPr/>
                        <a:t>IL</a:t>
                      </a:r>
                    </a:p>
                  </a:txBody>
                </a:tc>
                <a:tc>
                  <a:txBody>
                    <a:bodyPr/>
                    <a:lstStyle/>
                    <a:p>
                      <a:pPr lvl="0" indent="0" marL="0">
                        <a:buNone/>
                      </a:pPr>
                      <a:r>
                        <a:rPr/>
                        <a:t>21,023</a:t>
                      </a:r>
                    </a:p>
                  </a:txBody>
                </a:tc>
              </a:tr>
              <a:tr h="0">
                <a:tc>
                  <a:txBody>
                    <a:bodyPr/>
                    <a:lstStyle/>
                    <a:p>
                      <a:pPr lvl="0" indent="0" marL="0">
                        <a:buNone/>
                      </a:pPr>
                      <a:r>
                        <a:rPr/>
                        <a:t>PA</a:t>
                      </a:r>
                    </a:p>
                  </a:txBody>
                </a:tc>
                <a:tc>
                  <a:txBody>
                    <a:bodyPr/>
                    <a:lstStyle/>
                    <a:p>
                      <a:pPr lvl="0" indent="0" marL="0">
                        <a:buNone/>
                      </a:pPr>
                      <a:r>
                        <a:rPr/>
                        <a:t>20,968</a:t>
                      </a:r>
                    </a:p>
                  </a:txBody>
                </a:tc>
              </a:tr>
              <a:tr h="0">
                <a:tc>
                  <a:txBody>
                    <a:bodyPr/>
                    <a:lstStyle/>
                    <a:p>
                      <a:pPr lvl="0" indent="0" marL="0">
                        <a:buNone/>
                      </a:pPr>
                      <a:r>
                        <a:rPr/>
                        <a:t>NJ</a:t>
                      </a:r>
                    </a:p>
                  </a:txBody>
                </a:tc>
                <a:tc>
                  <a:txBody>
                    <a:bodyPr/>
                    <a:lstStyle/>
                    <a:p>
                      <a:pPr lvl="0" indent="0" marL="0">
                        <a:buNone/>
                      </a:pPr>
                      <a:r>
                        <a:rPr/>
                        <a:t>18,756</a:t>
                      </a:r>
                    </a:p>
                  </a:txBody>
                </a:tc>
              </a:tr>
              <a:tr h="0">
                <a:tc>
                  <a:txBody>
                    <a:bodyPr/>
                    <a:lstStyle/>
                    <a:p>
                      <a:pPr lvl="0" indent="0" marL="0">
                        <a:buNone/>
                      </a:pPr>
                      <a:r>
                        <a:rPr/>
                        <a:t>MA</a:t>
                      </a:r>
                    </a:p>
                  </a:txBody>
                </a:tc>
                <a:tc>
                  <a:txBody>
                    <a:bodyPr/>
                    <a:lstStyle/>
                    <a:p>
                      <a:pPr lvl="0" indent="0" marL="0">
                        <a:buNone/>
                      </a:pPr>
                      <a:r>
                        <a:rPr/>
                        <a:t>17,193</a:t>
                      </a:r>
                    </a:p>
                  </a:txBody>
                </a:tc>
              </a:tr>
              <a:tr h="0">
                <a:tc>
                  <a:txBody>
                    <a:bodyPr/>
                    <a:lstStyle/>
                    <a:p>
                      <a:pPr lvl="0" indent="0" marL="0">
                        <a:buNone/>
                      </a:pPr>
                      <a:r>
                        <a:rPr/>
                        <a:t>MI</a:t>
                      </a:r>
                    </a:p>
                  </a:txBody>
                </a:tc>
                <a:tc>
                  <a:txBody>
                    <a:bodyPr/>
                    <a:lstStyle/>
                    <a:p>
                      <a:pPr lvl="0" indent="0" marL="0">
                        <a:buNone/>
                      </a:pPr>
                      <a:r>
                        <a:rPr/>
                        <a:t>15,278</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lots/state_distribution.png" id="0" name="Picture 1"/>
          <p:cNvPicPr>
            <a:picLocks noGrp="1" noChangeAspect="1"/>
          </p:cNvPicPr>
          <p:nvPr/>
        </p:nvPicPr>
        <p:blipFill>
          <a:blip r:embed="rId2"/>
          <a:stretch>
            <a:fillRect/>
          </a:stretch>
        </p:blipFill>
        <p:spPr bwMode="auto">
          <a:xfrm>
            <a:off x="1689100" y="1193800"/>
            <a:ext cx="576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State Distribution</a:t>
            </a:r>
          </a:p>
        </p:txBody>
      </p:sp>
      <p:sp>
        <p:nvSpPr>
          <p:cNvPr id="3" name="Content Placeholder 2"/>
          <p:cNvSpPr>
            <a:spLocks noGrp="1"/>
          </p:cNvSpPr>
          <p:nvPr>
            <p:ph idx="1"/>
          </p:nvPr>
        </p:nvSpPr>
        <p:spPr/>
        <p:txBody>
          <a:bodyPr/>
          <a:lstStyle/>
          <a:p>
            <a:pPr lvl="0" indent="0" marL="0">
              <a:buNone/>
            </a:pPr>
            <a:r>
              <a:rPr b="1"/>
              <a:t>Speaker Notes:</a:t>
            </a:r>
          </a:p>
          <a:p>
            <a:pPr lvl="0" indent="0" marL="0">
              <a:buNone/>
            </a:pPr>
            <a:r>
              <a:rPr/>
              <a:t>Geographic analysis reveals: 1. California dominates with 71K filings 2. NY, TX, FL follow - consistent with population 3. Heavy concentration in coastal/urban states</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Quality Notes</a:t>
            </a:r>
          </a:p>
        </p:txBody>
      </p:sp>
      <p:sp>
        <p:nvSpPr>
          <p:cNvPr id="3" name="Content Placeholder 2"/>
          <p:cNvSpPr>
            <a:spLocks noGrp="1"/>
          </p:cNvSpPr>
          <p:nvPr>
            <p:ph idx="1"/>
          </p:nvPr>
        </p:nvSpPr>
        <p:spPr/>
        <p:txBody>
          <a:bodyPr/>
          <a:lstStyle/>
          <a:p>
            <a:pPr lvl="0" indent="0" marL="0">
              <a:spcBef>
                <a:spcPts val="3000"/>
              </a:spcBef>
              <a:buNone/>
            </a:pPr>
            <a:r>
              <a:rPr b="1"/>
              <a:t>Known Issues</a:t>
            </a:r>
          </a:p>
          <a:p>
            <a:pPr lvl="0" indent="-342900" marL="342900">
              <a:buAutoNum type="arabicPeriod"/>
            </a:pPr>
            <a:r>
              <a:rPr b="1"/>
              <a:t>Missing NAICS</a:t>
            </a:r>
            <a:r>
              <a:rPr/>
              <a:t>: Many companies show “Unknown” for industry</a:t>
            </a:r>
          </a:p>
          <a:p>
            <a:pPr lvl="0" indent="-342900" marL="342900">
              <a:buAutoNum type="arabicPeriod"/>
            </a:pPr>
            <a:r>
              <a:rPr b="1"/>
              <a:t>Name standardization</a:t>
            </a:r>
            <a:r>
              <a:rPr/>
              <a:t>: Broker/carrier names need deduplication</a:t>
            </a:r>
          </a:p>
          <a:p>
            <a:pPr lvl="0" indent="-342900" marL="342900">
              <a:buAutoNum type="arabicPeriod"/>
            </a:pPr>
            <a:r>
              <a:rPr b="1"/>
              <a:t>Outlier detection</a:t>
            </a:r>
            <a:r>
              <a:rPr/>
              <a:t>: Some premium values appear incorrect</a:t>
            </a:r>
          </a:p>
          <a:p>
            <a:pPr lvl="0" indent="-342900" marL="342900">
              <a:buAutoNum type="arabicPeriod"/>
            </a:pPr>
            <a:r>
              <a:rPr b="1"/>
              <a:t>2024 data</a:t>
            </a:r>
            <a:r>
              <a:rPr/>
              <a:t>: May be incomplete due to reporting delays</a:t>
            </a:r>
          </a:p>
          <a:p>
            <a:pPr lvl="0" indent="0" marL="0">
              <a:spcBef>
                <a:spcPts val="3000"/>
              </a:spcBef>
              <a:buNone/>
            </a:pPr>
            <a:r>
              <a:rPr b="1"/>
              <a:t>Data Processing Applied</a:t>
            </a:r>
          </a:p>
          <a:p>
            <a:pPr lvl="0"/>
            <a:r>
              <a:rPr/>
              <a:t>Successfully handled numpy array format in year columns</a:t>
            </a:r>
          </a:p>
          <a:p>
            <a:pPr lvl="0"/>
            <a:r>
              <a:rPr/>
              <a:t>Created safe type conversions for NAICS codes</a:t>
            </a:r>
          </a:p>
          <a:p>
            <a:pPr lvl="0"/>
            <a:r>
              <a:rPr/>
              <a:t>Added error handling for empty data visualizations</a:t>
            </a:r>
          </a:p>
          <a:p>
            <a:pPr lvl="0" indent="0" marL="0">
              <a:buNone/>
            </a:pPr>
            <a:r>
              <a:rPr b="1"/>
              <a:t>Speaker Notes:</a:t>
            </a:r>
          </a:p>
          <a:p>
            <a:pPr lvl="0" indent="0" marL="0">
              <a:buNone/>
            </a:pPr>
            <a:r>
              <a:rPr/>
              <a:t>We identified several data quality issues: 1. NAICS mapping gaps exist in the processed data 2. Name deduplication is critical for accurate broker/carrier analysis 3. Some premium outliers need investigation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 Statistics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Metric</a:t>
                      </a:r>
                    </a:p>
                  </a:txBody>
                  <a:tcPr/>
                </a:tc>
                <a:tc>
                  <a:txBody>
                    <a:bodyPr/>
                    <a:lstStyle/>
                    <a:p>
                      <a:pPr lvl="0" indent="0" marL="0">
                        <a:buNone/>
                      </a:pPr>
                      <a:r>
                        <a:rPr/>
                        <a:t>Value</a:t>
                      </a:r>
                    </a:p>
                  </a:txBody>
                  <a:tcPr/>
                </a:tc>
              </a:tr>
              <a:tr h="0">
                <a:tc>
                  <a:txBody>
                    <a:bodyPr/>
                    <a:lstStyle/>
                    <a:p>
                      <a:pPr lvl="0" indent="0" marL="0">
                        <a:buNone/>
                      </a:pPr>
                      <a:r>
                        <a:rPr/>
                        <a:t>Total Filings (sample)</a:t>
                      </a:r>
                    </a:p>
                  </a:txBody>
                </a:tc>
                <a:tc>
                  <a:txBody>
                    <a:bodyPr/>
                    <a:lstStyle/>
                    <a:p>
                      <a:pPr lvl="0" indent="0" marL="0">
                        <a:buNone/>
                      </a:pPr>
                      <a:r>
                        <a:rPr/>
                        <a:t>500,000</a:t>
                      </a:r>
                    </a:p>
                  </a:txBody>
                </a:tc>
              </a:tr>
              <a:tr h="0">
                <a:tc>
                  <a:txBody>
                    <a:bodyPr/>
                    <a:lstStyle/>
                    <a:p>
                      <a:pPr lvl="0" indent="0" marL="0">
                        <a:buNone/>
                      </a:pPr>
                      <a:r>
                        <a:rPr/>
                        <a:t>Unique Companies (sample)</a:t>
                      </a:r>
                    </a:p>
                  </a:txBody>
                </a:tc>
                <a:tc>
                  <a:txBody>
                    <a:bodyPr/>
                    <a:lstStyle/>
                    <a:p>
                      <a:pPr lvl="0" indent="0" marL="0">
                        <a:buNone/>
                      </a:pPr>
                      <a:r>
                        <a:rPr/>
                        <a:t>419,872</a:t>
                      </a:r>
                    </a:p>
                  </a:txBody>
                </a:tc>
              </a:tr>
              <a:tr h="0">
                <a:tc>
                  <a:txBody>
                    <a:bodyPr/>
                    <a:lstStyle/>
                    <a:p>
                      <a:pPr lvl="0" indent="0" marL="0">
                        <a:buNone/>
                      </a:pPr>
                      <a:r>
                        <a:rPr/>
                        <a:t>Unique Carriers</a:t>
                      </a:r>
                    </a:p>
                  </a:txBody>
                </a:tc>
                <a:tc>
                  <a:txBody>
                    <a:bodyPr/>
                    <a:lstStyle/>
                    <a:p>
                      <a:pPr lvl="0" indent="0" marL="0">
                        <a:buNone/>
                      </a:pPr>
                      <a:r>
                        <a:rPr/>
                        <a:t>12,844</a:t>
                      </a:r>
                    </a:p>
                  </a:txBody>
                </a:tc>
              </a:tr>
              <a:tr h="0">
                <a:tc>
                  <a:txBody>
                    <a:bodyPr/>
                    <a:lstStyle/>
                    <a:p>
                      <a:pPr lvl="0" indent="0" marL="0">
                        <a:buNone/>
                      </a:pPr>
                      <a:r>
                        <a:rPr/>
                        <a:t>Unique Brokers</a:t>
                      </a:r>
                    </a:p>
                  </a:txBody>
                </a:tc>
                <a:tc>
                  <a:txBody>
                    <a:bodyPr/>
                    <a:lstStyle/>
                    <a:p>
                      <a:pPr lvl="0" indent="0" marL="0">
                        <a:buNone/>
                      </a:pPr>
                      <a:r>
                        <a:rPr/>
                        <a:t>30,984</a:t>
                      </a:r>
                    </a:p>
                  </a:txBody>
                </a:tc>
              </a:tr>
              <a:tr h="0">
                <a:tc>
                  <a:txBody>
                    <a:bodyPr/>
                    <a:lstStyle/>
                    <a:p>
                      <a:pPr lvl="0" indent="0" marL="0">
                        <a:buNone/>
                      </a:pPr>
                      <a:r>
                        <a:rPr/>
                        <a:t>Unique NAICS Codes</a:t>
                      </a:r>
                    </a:p>
                  </a:txBody>
                </a:tc>
                <a:tc>
                  <a:txBody>
                    <a:bodyPr/>
                    <a:lstStyle/>
                    <a:p>
                      <a:pPr lvl="0" indent="0" marL="0">
                        <a:buNone/>
                      </a:pPr>
                      <a:r>
                        <a:rPr/>
                        <a:t>706</a:t>
                      </a:r>
                    </a:p>
                  </a:txBody>
                </a:tc>
              </a:tr>
              <a:tr h="0">
                <a:tc>
                  <a:txBody>
                    <a:bodyPr/>
                    <a:lstStyle/>
                    <a:p>
                      <a:pPr lvl="0" indent="0" marL="0">
                        <a:buNone/>
                      </a:pPr>
                      <a:r>
                        <a:rPr/>
                        <a:t>Avg Plan Size (participants)</a:t>
                      </a:r>
                    </a:p>
                  </a:txBody>
                </a:tc>
                <a:tc>
                  <a:txBody>
                    <a:bodyPr/>
                    <a:lstStyle/>
                    <a:p>
                      <a:pPr lvl="0" indent="0" marL="0">
                        <a:buNone/>
                      </a:pPr>
                      <a:r>
                        <a:rPr/>
                        <a:t>183</a:t>
                      </a:r>
                    </a:p>
                  </a:txBody>
                </a:tc>
              </a:tr>
              <a:tr h="0">
                <a:tc>
                  <a:txBody>
                    <a:bodyPr/>
                    <a:lstStyle/>
                    <a:p>
                      <a:pPr lvl="0" indent="0" marL="0">
                        <a:buNone/>
                      </a:pPr>
                      <a:r>
                        <a:rPr/>
                        <a:t>Median Plan Size</a:t>
                      </a:r>
                    </a:p>
                  </a:txBody>
                </a:tc>
                <a:tc>
                  <a:txBody>
                    <a:bodyPr/>
                    <a:lstStyle/>
                    <a:p>
                      <a:pPr lvl="0" indent="0" marL="0">
                        <a:buNone/>
                      </a:pPr>
                      <a:r>
                        <a:rPr/>
                        <a:t>11</a:t>
                      </a:r>
                    </a:p>
                  </a:txBody>
                </a:tc>
              </a:tr>
              <a:tr h="0">
                <a:tc>
                  <a:txBody>
                    <a:bodyPr/>
                    <a:lstStyle/>
                    <a:p>
                      <a:pPr lvl="0" indent="0" marL="0">
                        <a:buNone/>
                      </a:pPr>
                      <a:r>
                        <a:rPr/>
                        <a:t>Welfare Filings</a:t>
                      </a:r>
                    </a:p>
                  </a:txBody>
                </a:tc>
                <a:tc>
                  <a:txBody>
                    <a:bodyPr/>
                    <a:lstStyle/>
                    <a:p>
                      <a:pPr lvl="0" indent="0" marL="0">
                        <a:buNone/>
                      </a:pPr>
                      <a:r>
                        <a:rPr/>
                        <a:t>73,677</a:t>
                      </a:r>
                    </a:p>
                  </a:txBody>
                </a:tc>
              </a:tr>
              <a:tr h="0">
                <a:tc>
                  <a:txBody>
                    <a:bodyPr/>
                    <a:lstStyle/>
                    <a:p>
                      <a:pPr lvl="0" indent="0" marL="0">
                        <a:buNone/>
                      </a:pPr>
                      <a:r>
                        <a:rPr/>
                        <a:t>Pension Filings</a:t>
                      </a:r>
                    </a:p>
                  </a:txBody>
                </a:tc>
                <a:tc>
                  <a:txBody>
                    <a:bodyPr/>
                    <a:lstStyle/>
                    <a:p>
                      <a:pPr lvl="0" indent="0" marL="0">
                        <a:buNone/>
                      </a:pPr>
                      <a:r>
                        <a:rPr/>
                        <a:t>421,818</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Clustering Model Recommendations</a:t>
            </a:r>
          </a:p>
        </p:txBody>
      </p:sp>
      <p:sp>
        <p:nvSpPr>
          <p:cNvPr id="3" name="Content Placeholder 2"/>
          <p:cNvSpPr>
            <a:spLocks noGrp="1"/>
          </p:cNvSpPr>
          <p:nvPr>
            <p:ph idx="1"/>
          </p:nvPr>
        </p:nvSpPr>
        <p:spPr/>
        <p:txBody>
          <a:bodyPr/>
          <a:lstStyle/>
          <a:p>
            <a:pPr lvl="0" indent="0" marL="0">
              <a:spcBef>
                <a:spcPts val="3000"/>
              </a:spcBef>
              <a:buNone/>
            </a:pPr>
            <a:r>
              <a:rPr b="1"/>
              <a:t>Recommended Algorithms</a:t>
            </a:r>
          </a:p>
          <a:p>
            <a:pPr lvl="0" indent="-342900" marL="342900">
              <a:buAutoNum type="arabicPeriod"/>
            </a:pPr>
            <a:r>
              <a:rPr b="1"/>
              <a:t>K-Means Clustering</a:t>
            </a:r>
          </a:p>
          <a:p>
            <a:pPr lvl="1"/>
            <a:r>
              <a:rPr/>
              <a:t>Best for: Initial segmentation with spherical clusters</a:t>
            </a:r>
          </a:p>
          <a:p>
            <a:pPr lvl="1"/>
            <a:r>
              <a:rPr/>
              <a:t>Features: Company size, carrier count, product types</a:t>
            </a:r>
          </a:p>
          <a:p>
            <a:pPr lvl="0" indent="-342900" marL="342900">
              <a:buAutoNum type="arabicPeriod"/>
            </a:pPr>
            <a:r>
              <a:rPr b="1"/>
              <a:t>Hierarchical Clustering</a:t>
            </a:r>
          </a:p>
          <a:p>
            <a:pPr lvl="1"/>
            <a:r>
              <a:rPr/>
              <a:t>Best for: Industry-specific groupings</a:t>
            </a:r>
          </a:p>
          <a:p>
            <a:pPr lvl="1"/>
            <a:r>
              <a:rPr/>
              <a:t>Reveals nested relationships in NAICS codes</a:t>
            </a:r>
          </a:p>
          <a:p>
            <a:pPr lvl="0" indent="-342900" marL="342900">
              <a:buAutoNum type="arabicPeriod"/>
            </a:pPr>
            <a:r>
              <a:rPr b="1"/>
              <a:t>DBSCAN</a:t>
            </a:r>
          </a:p>
          <a:p>
            <a:pPr lvl="1"/>
            <a:r>
              <a:rPr/>
              <a:t>Best for: Finding natural clusters and outliers</a:t>
            </a:r>
          </a:p>
          <a:p>
            <a:pPr lvl="1"/>
            <a:r>
              <a:rPr/>
              <a:t>Identifies unusual benefits profiles</a:t>
            </a:r>
          </a:p>
          <a:p>
            <a:pPr lvl="0" indent="-342900" marL="342900">
              <a:buAutoNum type="arabicPeriod"/>
            </a:pPr>
            <a:r>
              <a:rPr b="1"/>
              <a:t>Gaussian Mixture Models (GMM)</a:t>
            </a:r>
          </a:p>
          <a:p>
            <a:pPr lvl="1"/>
            <a:r>
              <a:rPr/>
              <a:t>Best for: Probabilistic cluster assignments</a:t>
            </a:r>
          </a:p>
          <a:p>
            <a:pPr lvl="1"/>
            <a:r>
              <a:rPr/>
              <a:t>Companies can belong to multiple segments</a:t>
            </a:r>
          </a:p>
          <a:p>
            <a:pPr lvl="0" indent="0" marL="0">
              <a:buNone/>
            </a:pPr>
            <a:r>
              <a:rPr b="1"/>
              <a:t>Speaker Notes:</a:t>
            </a:r>
          </a:p>
          <a:p>
            <a:pPr lvl="0" indent="0" marL="0">
              <a:buNone/>
            </a:pPr>
            <a:r>
              <a:rPr/>
              <a:t>Based on our EDA, here’s our recommended clustering approach: - K-Means is starting point - interpretable, works well for size-based segments - GMM recommended for production because benefits programs aren’t mutually exclusive</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Key Features for Clustering</a:t>
            </a:r>
          </a:p>
        </p:txBody>
      </p:sp>
      <p:sp>
        <p:nvSpPr>
          <p:cNvPr id="3" name="Content Placeholder 2"/>
          <p:cNvSpPr>
            <a:spLocks noGrp="1"/>
          </p:cNvSpPr>
          <p:nvPr>
            <p:ph idx="1"/>
          </p:nvPr>
        </p:nvSpPr>
        <p:spPr/>
        <p:txBody>
          <a:bodyPr/>
          <a:lstStyle/>
          <a:p>
            <a:pPr lvl="0" indent="0" marL="0">
              <a:spcBef>
                <a:spcPts val="3000"/>
              </a:spcBef>
              <a:buNone/>
            </a:pPr>
            <a:r>
              <a:rPr b="1"/>
              <a:t>Size Features</a:t>
            </a:r>
          </a:p>
          <a:p>
            <a:pPr lvl="0"/>
            <a:r>
              <a:rPr>
                <a:latin typeface="Courier"/>
              </a:rPr>
              <a:t>total_all_participants</a:t>
            </a:r>
            <a:r>
              <a:rPr/>
              <a:t> - Plan participant count</a:t>
            </a:r>
          </a:p>
          <a:p>
            <a:pPr lvl="0"/>
            <a:r>
              <a:rPr>
                <a:latin typeface="Courier"/>
              </a:rPr>
              <a:t>benefits_eligible</a:t>
            </a:r>
            <a:r>
              <a:rPr/>
              <a:t> - Employees eligible for benefits</a:t>
            </a:r>
          </a:p>
          <a:p>
            <a:pPr lvl="0"/>
            <a:r>
              <a:rPr/>
              <a:t>Plan size category (small/large)</a:t>
            </a:r>
          </a:p>
          <a:p>
            <a:pPr lvl="0" indent="0" marL="0">
              <a:spcBef>
                <a:spcPts val="3000"/>
              </a:spcBef>
              <a:buNone/>
            </a:pPr>
            <a:r>
              <a:rPr b="1"/>
              <a:t>Industry Features</a:t>
            </a:r>
          </a:p>
          <a:p>
            <a:pPr lvl="0"/>
            <a:r>
              <a:rPr/>
              <a:t>NAICS sector (first 2 digits)</a:t>
            </a:r>
          </a:p>
          <a:p>
            <a:pPr lvl="0"/>
            <a:r>
              <a:rPr/>
              <a:t>NAICS subsector (first 3 digits)</a:t>
            </a:r>
          </a:p>
          <a:p>
            <a:pPr lvl="0"/>
            <a:r>
              <a:rPr/>
              <a:t>Multi-sector indicator</a:t>
            </a:r>
          </a:p>
          <a:p>
            <a:pPr lvl="0" indent="0" marL="0">
              <a:spcBef>
                <a:spcPts val="3000"/>
              </a:spcBef>
              <a:buNone/>
            </a:pPr>
            <a:r>
              <a:rPr b="1"/>
              <a:t>Benefits Program Features</a:t>
            </a:r>
          </a:p>
          <a:p>
            <a:pPr lvl="0"/>
            <a:r>
              <a:rPr/>
              <a:t>Number of unique carriers</a:t>
            </a:r>
          </a:p>
          <a:p>
            <a:pPr lvl="0"/>
            <a:r>
              <a:rPr/>
              <a:t>Number of unique brokers</a:t>
            </a:r>
          </a:p>
          <a:p>
            <a:pPr lvl="0"/>
            <a:r>
              <a:rPr/>
              <a:t>Product types (health, dental, vision, life, etc.)</a:t>
            </a:r>
          </a:p>
          <a:p>
            <a:pPr lvl="0"/>
            <a:r>
              <a:rPr/>
              <a:t>Welfare vs pension indicators</a:t>
            </a:r>
          </a:p>
          <a:p>
            <a:pPr lvl="0"/>
            <a:r>
              <a:rPr/>
              <a:t>Total premiums</a:t>
            </a:r>
          </a:p>
          <a:p>
            <a:pPr lvl="0" indent="0" marL="0">
              <a:spcBef>
                <a:spcPts val="3000"/>
              </a:spcBef>
              <a:buNone/>
            </a:pPr>
            <a:r>
              <a:rPr b="1"/>
              <a:t>Geographic Features</a:t>
            </a:r>
          </a:p>
          <a:p>
            <a:pPr lvl="0"/>
            <a:r>
              <a:rPr/>
              <a:t>State/region</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Recommendations &amp; Next Steps</a:t>
            </a:r>
          </a:p>
        </p:txBody>
      </p:sp>
      <p:sp>
        <p:nvSpPr>
          <p:cNvPr id="3" name="Content Placeholder 2"/>
          <p:cNvSpPr>
            <a:spLocks noGrp="1"/>
          </p:cNvSpPr>
          <p:nvPr>
            <p:ph idx="1"/>
          </p:nvPr>
        </p:nvSpPr>
        <p:spPr/>
        <p:txBody>
          <a:bodyPr/>
          <a:lstStyle/>
          <a:p>
            <a:pPr lvl="0" indent="0" marL="0">
              <a:spcBef>
                <a:spcPts val="3000"/>
              </a:spcBef>
              <a:buNone/>
            </a:pPr>
            <a:r>
              <a:rPr b="1"/>
              <a:t>Immediate Actions</a:t>
            </a:r>
          </a:p>
          <a:p>
            <a:pPr lvl="0" indent="-342900" marL="342900">
              <a:buAutoNum type="arabicPeriod"/>
            </a:pPr>
            <a:r>
              <a:rPr b="1"/>
              <a:t>Feature Engineering</a:t>
            </a:r>
            <a:r>
              <a:rPr/>
              <a:t>: Create binary indicators for each product type</a:t>
            </a:r>
          </a:p>
          <a:p>
            <a:pPr lvl="0" indent="-342900" marL="342900">
              <a:buAutoNum type="arabicPeriod"/>
            </a:pPr>
            <a:r>
              <a:rPr b="1"/>
              <a:t>Feature Scaling</a:t>
            </a:r>
            <a:r>
              <a:rPr/>
              <a:t>: Normalize participant counts and premium values</a:t>
            </a:r>
          </a:p>
          <a:p>
            <a:pPr lvl="0" indent="-342900" marL="342900">
              <a:buAutoNum type="arabicPeriod"/>
            </a:pPr>
            <a:r>
              <a:rPr b="1"/>
              <a:t>Dimensionality Reduction</a:t>
            </a:r>
            <a:r>
              <a:rPr/>
              <a:t>: Consider PCA if features are correlated</a:t>
            </a:r>
          </a:p>
          <a:p>
            <a:pPr lvl="0" indent="0" marL="0">
              <a:spcBef>
                <a:spcPts val="3000"/>
              </a:spcBef>
              <a:buNone/>
            </a:pPr>
            <a:r>
              <a:rPr b="1"/>
              <a:t>Validation</a:t>
            </a:r>
          </a:p>
          <a:p>
            <a:pPr lvl="0"/>
            <a:r>
              <a:rPr/>
              <a:t>Use silhouette score to determine optimal cluster count</a:t>
            </a:r>
          </a:p>
          <a:p>
            <a:pPr lvl="0"/>
            <a:r>
              <a:rPr/>
              <a:t>Elbow method for K-Means</a:t>
            </a:r>
          </a:p>
          <a:p>
            <a:pPr lvl="0"/>
            <a:r>
              <a:rPr/>
              <a:t>Cross-validate across time periods</a:t>
            </a:r>
          </a:p>
          <a:p>
            <a:pPr lvl="0" indent="0" marL="0">
              <a:spcBef>
                <a:spcPts val="3000"/>
              </a:spcBef>
              <a:buNone/>
            </a:pPr>
            <a:r>
              <a:rPr b="1"/>
              <a:t>Scoring Model</a:t>
            </a:r>
          </a:p>
          <a:p>
            <a:pPr lvl="0"/>
            <a:r>
              <a:rPr/>
              <a:t>Once clusters defined, score each company</a:t>
            </a:r>
          </a:p>
          <a:p>
            <a:pPr lvl="0"/>
            <a:r>
              <a:rPr/>
              <a:t>Consider: benefits complexity, premium levels, carrier quality</a:t>
            </a:r>
          </a:p>
          <a:p>
            <a:pPr lvl="0"/>
            <a:r>
              <a:rPr/>
              <a:t>Build predictive model for benefits needs</a:t>
            </a:r>
          </a:p>
          <a:p>
            <a:pPr lvl="0" indent="0" marL="0">
              <a:buNone/>
            </a:pPr>
            <a:r>
              <a:rPr b="1"/>
              <a:t>Speaker Notes:</a:t>
            </a:r>
          </a:p>
          <a:p>
            <a:pPr lvl="0" indent="0" marL="0">
              <a:buNone/>
            </a:pPr>
            <a:r>
              <a:rPr/>
              <a:t>Our immediate next steps: 1. Feature engineering: Transform raw data into cluster-friendly features 2. Validation: Determine how many clusters make business sense 3. Scoring: After clustering, assign “benefits sophistication scores”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&amp; Discussion</a:t>
            </a:r>
          </a:p>
        </p:txBody>
      </p:sp>
      <p:sp>
        <p:nvSpPr>
          <p:cNvPr id="3" name="Content Placeholder 2"/>
          <p:cNvSpPr>
            <a:spLocks noGrp="1"/>
          </p:cNvSpPr>
          <p:nvPr>
            <p:ph idx="1"/>
          </p:nvPr>
        </p:nvSpPr>
        <p:spPr/>
        <p:txBody>
          <a:bodyPr/>
          <a:lstStyle/>
          <a:p>
            <a:pPr lvl="0" indent="0" marL="0">
              <a:spcBef>
                <a:spcPts val="3000"/>
              </a:spcBef>
              <a:buNone/>
            </a:pPr>
            <a:r>
              <a:rPr b="1"/>
              <a:t>Contact</a:t>
            </a:r>
          </a:p>
          <a:p>
            <a:pPr lvl="0"/>
            <a:r>
              <a:rPr/>
              <a:t>Data Science Team</a:t>
            </a:r>
          </a:p>
          <a:p>
            <a:pPr lvl="0"/>
            <a:r>
              <a:rPr/>
              <a:t>[Your contact information]</a:t>
            </a:r>
          </a:p>
          <a:p>
            <a:pPr lvl="0" indent="0" marL="0">
              <a:spcBef>
                <a:spcPts val="3000"/>
              </a:spcBef>
              <a:buNone/>
            </a:pPr>
            <a:r>
              <a:rPr b="1"/>
              <a:t>Additional Resources</a:t>
            </a:r>
          </a:p>
          <a:p>
            <a:pPr lvl="0"/>
            <a:r>
              <a:rPr/>
              <a:t>Form 5500 Documentation</a:t>
            </a:r>
          </a:p>
          <a:p>
            <a:pPr lvl="0"/>
            <a:r>
              <a:rPr/>
              <a:t>NAICS Code Reference</a:t>
            </a:r>
          </a:p>
          <a:p>
            <a:pPr lvl="0"/>
            <a:r>
              <a:rPr/>
              <a:t>Raw Data Files: </a:t>
            </a:r>
            <a:r>
              <a:rPr>
                <a:latin typeface="Courier"/>
              </a:rPr>
              <a:t>form-5500-data/raw/</a:t>
            </a:r>
          </a:p>
          <a:p>
            <a:pPr lvl="0"/>
            <a:r>
              <a:rPr/>
              <a:t>Processed Data: </a:t>
            </a:r>
            <a:r>
              <a:rPr>
                <a:latin typeface="Courier"/>
              </a:rPr>
              <a:t>form-5500-data/processed/</a:t>
            </a:r>
          </a:p>
          <a:p>
            <a:pPr lvl="0"/>
            <a:r>
              <a:rPr/>
              <a:t>Visualizations: </a:t>
            </a:r>
            <a:r>
              <a:rPr>
                <a:latin typeface="Courier"/>
              </a:rPr>
              <a:t>plots/</a:t>
            </a:r>
          </a:p>
          <a:p>
            <a:pPr lvl="0" indent="0" marL="0">
              <a:buNone/>
            </a:pPr>
            <a:r>
              <a:rPr b="1"/>
              <a:t>Speaker Notes:</a:t>
            </a:r>
          </a:p>
          <a:p>
            <a:pPr lvl="0" indent="0" marL="0">
              <a:buNone/>
            </a:pPr>
            <a:r>
              <a:rPr/>
              <a:t>Thank you for your attention. I’m happy to take questions about: - Data methodology and sources - Clustering approach recommendations - Feature engineering decisions - Timeline for production scoring model</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Form 5500 Benefits Insurance Analysis</dc:title>
  <dc:creator>Data Science Team</dc:creator>
  <cp:keywords/>
  <dcterms:created xsi:type="dcterms:W3CDTF">2026-02-20T17:48:29Z</dcterms:created>
  <dcterms:modified xsi:type="dcterms:W3CDTF">2026-02-20T17:48:29Z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2026-02-01</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margin-bottom">
    <vt:lpwstr>0.5</vt:lpwstr>
  </property>
  <property fmtid="{D5CDD505-2E9C-101B-9397-08002B2CF9AE}" pid="11" name="margin-left">
    <vt:lpwstr>0.5</vt:lpwstr>
  </property>
  <property fmtid="{D5CDD505-2E9C-101B-9397-08002B2CF9AE}" pid="12" name="margin-right">
    <vt:lpwstr>0.5</vt:lpwstr>
  </property>
  <property fmtid="{D5CDD505-2E9C-101B-9397-08002B2CF9AE}" pid="13" name="margin-top">
    <vt:lpwstr>0.5</vt:lpwstr>
  </property>
  <property fmtid="{D5CDD505-2E9C-101B-9397-08002B2CF9AE}" pid="14" name="slide-number">
    <vt:lpwstr>True</vt:lpwstr>
  </property>
  <property fmtid="{D5CDD505-2E9C-101B-9397-08002B2CF9AE}" pid="15" name="subtitle">
    <vt:lpwstr>Company Clustering &amp; Benefits Insurance Scoring</vt:lpwstr>
  </property>
  <property fmtid="{D5CDD505-2E9C-101B-9397-08002B2CF9AE}" pid="16" name="toc-title">
    <vt:lpwstr>Table of contents</vt:lpwstr>
  </property>
</Properties>
</file>